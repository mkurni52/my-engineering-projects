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847C32-AFC2-F64C-BD64-FBAF906F2550}" type="datetimeFigureOut">
              <a:rPr lang="en-US" smtClean="0"/>
              <a:t>3/11/26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858B4A-0D5A-EE4B-AA17-8F53F9DA4517}" type="slidenum">
              <a:rPr lang="en-US" smtClean="0"/>
              <a:t>‹#›</a:t>
            </a:fld>
            <a:endParaRPr lang="en-US"/>
          </a:p>
        </p:txBody>
      </p:sp>
    </p:spTree>
    <p:extLst>
      <p:ext uri="{BB962C8B-B14F-4D97-AF65-F5344CB8AC3E}">
        <p14:creationId xmlns:p14="http://schemas.microsoft.com/office/powerpoint/2010/main" val="2478140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Wright Brothers’s first flight in 1903 to the modern era of Sustainable Aviation Fuel </a:t>
            </a:r>
          </a:p>
          <a:p>
            <a:r>
              <a:rPr lang="en-US" dirty="0"/>
              <a:t>(SAF), aviation is returning to its roots of innovation to solve the climate crisis. The revolutionary </a:t>
            </a:r>
          </a:p>
          <a:p>
            <a:r>
              <a:rPr lang="en-US" dirty="0"/>
              <a:t>SAF fuel derives from renewable waste oils and agricultural residue, offering up to 80% lower </a:t>
            </a:r>
          </a:p>
          <a:p>
            <a:r>
              <a:rPr lang="en-US" dirty="0"/>
              <a:t>carbon cycle emissions. This transition aims to make aviation as sustainable as it was during its </a:t>
            </a:r>
          </a:p>
          <a:p>
            <a:r>
              <a:rPr lang="en-US" dirty="0"/>
              <a:t>low-emission days, while powering the future of air travel. Leading this transition is Singapore, </a:t>
            </a:r>
          </a:p>
          <a:p>
            <a:r>
              <a:rPr lang="en-US" dirty="0"/>
              <a:t>which announced the world’s first mandatory sustainable aviation fuel levy starting from </a:t>
            </a:r>
          </a:p>
          <a:p>
            <a:r>
              <a:rPr lang="en-US" dirty="0"/>
              <a:t>October 1, 2026. This landmark move marks a unique, consumer-focused approach to financing </a:t>
            </a:r>
          </a:p>
          <a:p>
            <a:r>
              <a:rPr lang="en-US" dirty="0"/>
              <a:t>the future of flight. This shift highlights a major evolution to cleaner, alternative energy for air </a:t>
            </a:r>
          </a:p>
          <a:p>
            <a:r>
              <a:rPr lang="en-US" dirty="0"/>
              <a:t>travel. While early pioneers focused on the feasibility of flight, modern aviation is focused on </a:t>
            </a:r>
          </a:p>
          <a:p>
            <a:r>
              <a:rPr lang="en-US" dirty="0"/>
              <a:t>the sustainability of it. The shift from the Wright Brothers’ initial gasoline to sustainable aviation </a:t>
            </a:r>
          </a:p>
          <a:p>
            <a:r>
              <a:rPr lang="en-US" dirty="0"/>
              <a:t>fuels of today represents a crucial evolution in environmental stewardship and decarbonization </a:t>
            </a:r>
          </a:p>
          <a:p>
            <a:r>
              <a:rPr lang="en-US" dirty="0"/>
              <a:t>of the airline industry</a:t>
            </a:r>
          </a:p>
        </p:txBody>
      </p:sp>
      <p:sp>
        <p:nvSpPr>
          <p:cNvPr id="4" name="Slide Number Placeholder 3"/>
          <p:cNvSpPr>
            <a:spLocks noGrp="1"/>
          </p:cNvSpPr>
          <p:nvPr>
            <p:ph type="sldNum" sz="quarter" idx="5"/>
          </p:nvPr>
        </p:nvSpPr>
        <p:spPr/>
        <p:txBody>
          <a:bodyPr/>
          <a:lstStyle/>
          <a:p>
            <a:fld id="{07858B4A-0D5A-EE4B-AA17-8F53F9DA4517}" type="slidenum">
              <a:rPr lang="en-US" smtClean="0"/>
              <a:t>2</a:t>
            </a:fld>
            <a:endParaRPr lang="en-US"/>
          </a:p>
        </p:txBody>
      </p:sp>
    </p:spTree>
    <p:extLst>
      <p:ext uri="{BB962C8B-B14F-4D97-AF65-F5344CB8AC3E}">
        <p14:creationId xmlns:p14="http://schemas.microsoft.com/office/powerpoint/2010/main" val="13690991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father of aviation, Sir George Cayley (1804-1853) established the fundamental principles of </a:t>
            </a:r>
          </a:p>
          <a:p>
            <a:r>
              <a:rPr lang="en-US" dirty="0"/>
              <a:t>aerodynamics (lift, drag, and thrust) and flew the first successful manned glider in 1853. </a:t>
            </a:r>
          </a:p>
          <a:p>
            <a:r>
              <a:rPr lang="en-US" dirty="0"/>
              <a:t>Significant advances in glider technology were made, with Otto Lilienthal and Sir George Cayley </a:t>
            </a:r>
          </a:p>
          <a:p>
            <a:r>
              <a:rPr lang="en-US" dirty="0"/>
              <a:t>being key pioneers. Lilienthal made over 2000 controlled glides between 1891 and 1896. These </a:t>
            </a:r>
          </a:p>
          <a:p>
            <a:r>
              <a:rPr lang="en-US" dirty="0"/>
              <a:t>innovators focused on developing stable, controllable, heavier than air </a:t>
            </a:r>
            <a:r>
              <a:rPr lang="en-US" dirty="0" err="1"/>
              <a:t>aircraf</a:t>
            </a:r>
            <a:endParaRPr lang="en-US" dirty="0"/>
          </a:p>
        </p:txBody>
      </p:sp>
      <p:sp>
        <p:nvSpPr>
          <p:cNvPr id="4" name="Slide Number Placeholder 3"/>
          <p:cNvSpPr>
            <a:spLocks noGrp="1"/>
          </p:cNvSpPr>
          <p:nvPr>
            <p:ph type="sldNum" sz="quarter" idx="5"/>
          </p:nvPr>
        </p:nvSpPr>
        <p:spPr/>
        <p:txBody>
          <a:bodyPr/>
          <a:lstStyle/>
          <a:p>
            <a:fld id="{07858B4A-0D5A-EE4B-AA17-8F53F9DA4517}" type="slidenum">
              <a:rPr lang="en-US" smtClean="0"/>
              <a:t>3</a:t>
            </a:fld>
            <a:endParaRPr lang="en-US"/>
          </a:p>
        </p:txBody>
      </p:sp>
    </p:spTree>
    <p:extLst>
      <p:ext uri="{BB962C8B-B14F-4D97-AF65-F5344CB8AC3E}">
        <p14:creationId xmlns:p14="http://schemas.microsoft.com/office/powerpoint/2010/main" val="3965895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ever airplane, the 1903 Wright Flyer, flown by Wilbur and Orville Wright (The </a:t>
            </a:r>
            <a:r>
              <a:rPr lang="en-US" dirty="0" err="1"/>
              <a:t>Wirght</a:t>
            </a:r>
            <a:r>
              <a:rPr lang="en-US" dirty="0"/>
              <a:t> </a:t>
            </a:r>
          </a:p>
          <a:p>
            <a:r>
              <a:rPr lang="en-US" dirty="0"/>
              <a:t>Brothers) was flown over Kitty Hawk, North Carolina. The historic flight lasted twelve seconds </a:t>
            </a:r>
          </a:p>
          <a:p>
            <a:r>
              <a:rPr lang="en-US" dirty="0"/>
              <a:t>with Orville Weight at the controls. This was the first successful powered, controlled, heavier </a:t>
            </a:r>
          </a:p>
          <a:p>
            <a:r>
              <a:rPr lang="en-US" dirty="0"/>
              <a:t>than air airplane. This airplane featured a 12-horsepower engine and used a low octane</a:t>
            </a:r>
          </a:p>
          <a:p>
            <a:r>
              <a:rPr lang="en-US" dirty="0"/>
              <a:t>gasoline which was gravity fed from a tank on a wing strut to a custom built four-cylinder </a:t>
            </a:r>
          </a:p>
          <a:p>
            <a:r>
              <a:rPr lang="en-US" dirty="0"/>
              <a:t>engine. The fuel had a low octane rating, likely between 30 and 40. The early, primitive fuel air </a:t>
            </a:r>
          </a:p>
          <a:p>
            <a:r>
              <a:rPr lang="en-US" dirty="0"/>
              <a:t>mixing systems (carburetors) and lack of cooling meant that these systems operated on the </a:t>
            </a:r>
          </a:p>
          <a:p>
            <a:r>
              <a:rPr lang="en-US" dirty="0"/>
              <a:t>edge of failure. The Wright Brothers shop mechanic, Charlie Taylor, was the engine builder. The </a:t>
            </a:r>
          </a:p>
          <a:p>
            <a:r>
              <a:rPr lang="en-US" dirty="0"/>
              <a:t>Wright brothers completed four flights that day, with the longest lasting 59 seconds and </a:t>
            </a:r>
          </a:p>
          <a:p>
            <a:r>
              <a:rPr lang="en-US" dirty="0"/>
              <a:t>covering 852 feet.</a:t>
            </a:r>
          </a:p>
        </p:txBody>
      </p:sp>
      <p:sp>
        <p:nvSpPr>
          <p:cNvPr id="4" name="Slide Number Placeholder 3"/>
          <p:cNvSpPr>
            <a:spLocks noGrp="1"/>
          </p:cNvSpPr>
          <p:nvPr>
            <p:ph type="sldNum" sz="quarter" idx="5"/>
          </p:nvPr>
        </p:nvSpPr>
        <p:spPr/>
        <p:txBody>
          <a:bodyPr/>
          <a:lstStyle/>
          <a:p>
            <a:fld id="{07858B4A-0D5A-EE4B-AA17-8F53F9DA4517}" type="slidenum">
              <a:rPr lang="en-US" smtClean="0"/>
              <a:t>4</a:t>
            </a:fld>
            <a:endParaRPr lang="en-US"/>
          </a:p>
        </p:txBody>
      </p:sp>
    </p:spTree>
    <p:extLst>
      <p:ext uri="{BB962C8B-B14F-4D97-AF65-F5344CB8AC3E}">
        <p14:creationId xmlns:p14="http://schemas.microsoft.com/office/powerpoint/2010/main" val="489905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aircraft engines became more powerful, the need for higher compression ratios became </a:t>
            </a:r>
          </a:p>
          <a:p>
            <a:r>
              <a:rPr lang="en-US" dirty="0"/>
              <a:t>critical to improving performance and fuel efficiency. The early aviation gas (Avgas) used was a </a:t>
            </a:r>
          </a:p>
          <a:p>
            <a:r>
              <a:rPr lang="en-US" dirty="0"/>
              <a:t>65-octane fuel. As engines became more powerful, knocking became a limiting factor. To </a:t>
            </a:r>
          </a:p>
          <a:p>
            <a:r>
              <a:rPr lang="en-US" dirty="0"/>
              <a:t>combat this, the industry introduced Tetraethyl Lead (TEL) in the 1920s to improve octane </a:t>
            </a:r>
          </a:p>
          <a:p>
            <a:r>
              <a:rPr lang="en-US" dirty="0"/>
              <a:t>rating, which enabled the use of high-performance piston engines required for World War II</a:t>
            </a:r>
          </a:p>
          <a:p>
            <a:r>
              <a:rPr lang="en-US" dirty="0"/>
              <a:t>fighter planes, such as the Rolls Royce Merlin engine. </a:t>
            </a:r>
          </a:p>
        </p:txBody>
      </p:sp>
      <p:sp>
        <p:nvSpPr>
          <p:cNvPr id="4" name="Slide Number Placeholder 3"/>
          <p:cNvSpPr>
            <a:spLocks noGrp="1"/>
          </p:cNvSpPr>
          <p:nvPr>
            <p:ph type="sldNum" sz="quarter" idx="5"/>
          </p:nvPr>
        </p:nvSpPr>
        <p:spPr/>
        <p:txBody>
          <a:bodyPr/>
          <a:lstStyle/>
          <a:p>
            <a:fld id="{07858B4A-0D5A-EE4B-AA17-8F53F9DA4517}" type="slidenum">
              <a:rPr lang="en-US" smtClean="0"/>
              <a:t>5</a:t>
            </a:fld>
            <a:endParaRPr lang="en-US"/>
          </a:p>
        </p:txBody>
      </p:sp>
    </p:spTree>
    <p:extLst>
      <p:ext uri="{BB962C8B-B14F-4D97-AF65-F5344CB8AC3E}">
        <p14:creationId xmlns:p14="http://schemas.microsoft.com/office/powerpoint/2010/main" val="2926435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Airline fuels have evolved from early gasoline to specialized kerosene-based jet fuels (Jet A/A1) </a:t>
            </a:r>
          </a:p>
          <a:p>
            <a:r>
              <a:rPr lang="en-US" dirty="0"/>
              <a:t>in the 1950s which was because of the shift to gas powered turbine engines which required a </a:t>
            </a:r>
          </a:p>
          <a:p>
            <a:r>
              <a:rPr lang="en-US" dirty="0"/>
              <a:t>fuel with a higher flash point. Jet engines do not require high octane to precent pre-ignition. However, they require fuel with a high energy density and a lower freezing point. The jet engine </a:t>
            </a:r>
          </a:p>
          <a:p>
            <a:r>
              <a:rPr lang="en-US" dirty="0"/>
              <a:t>allowed for the development of larger, more durable aircraft. The 1970s brought in wide-body </a:t>
            </a:r>
          </a:p>
          <a:p>
            <a:r>
              <a:rPr lang="en-US" dirty="0"/>
              <a:t>aircraft (Boeing 747) which prioritized fuel efficiency, leading to the development of high-bypass </a:t>
            </a:r>
          </a:p>
          <a:p>
            <a:r>
              <a:rPr lang="en-US" dirty="0"/>
              <a:t>turbofan engines. </a:t>
            </a:r>
          </a:p>
          <a:p>
            <a:endParaRPr lang="en-US" dirty="0"/>
          </a:p>
        </p:txBody>
      </p:sp>
      <p:sp>
        <p:nvSpPr>
          <p:cNvPr id="4" name="Slide Number Placeholder 3"/>
          <p:cNvSpPr>
            <a:spLocks noGrp="1"/>
          </p:cNvSpPr>
          <p:nvPr>
            <p:ph type="sldNum" sz="quarter" idx="5"/>
          </p:nvPr>
        </p:nvSpPr>
        <p:spPr/>
        <p:txBody>
          <a:bodyPr/>
          <a:lstStyle/>
          <a:p>
            <a:fld id="{07858B4A-0D5A-EE4B-AA17-8F53F9DA4517}" type="slidenum">
              <a:rPr lang="en-US" smtClean="0"/>
              <a:t>6</a:t>
            </a:fld>
            <a:endParaRPr lang="en-US"/>
          </a:p>
        </p:txBody>
      </p:sp>
    </p:spTree>
    <p:extLst>
      <p:ext uri="{BB962C8B-B14F-4D97-AF65-F5344CB8AC3E}">
        <p14:creationId xmlns:p14="http://schemas.microsoft.com/office/powerpoint/2010/main" val="2080948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the EPA’s ban on leaded fuel in the 1970s and 80s, aviation struggled to drop leaded </a:t>
            </a:r>
          </a:p>
          <a:p>
            <a:r>
              <a:rPr lang="en-US" dirty="0"/>
              <a:t>fuel from piston engines, resulting in the adoption of 100LL (low lead). Testing began on </a:t>
            </a:r>
          </a:p>
          <a:p>
            <a:r>
              <a:rPr lang="en-US" dirty="0"/>
              <a:t>alternative fuels in 2008. In that year, Virgin Atlantic conducted the first test flight using a mix of </a:t>
            </a:r>
          </a:p>
          <a:p>
            <a:r>
              <a:rPr lang="en-US" dirty="0"/>
              <a:t>biofuel (derived from babassu oil and coconut oil) and conventional fuel in one jet engine. </a:t>
            </a:r>
          </a:p>
          <a:p>
            <a:r>
              <a:rPr lang="en-US" dirty="0"/>
              <a:t>Sustainable Aviation Fuel (SAF) is currently derived from renewable feedstocks, including </a:t>
            </a:r>
          </a:p>
          <a:p>
            <a:r>
              <a:rPr lang="en-US" dirty="0"/>
              <a:t>cooking oil, animal fats, and municipal waste. It is chemically similar to conventional jet fuel and </a:t>
            </a:r>
          </a:p>
          <a:p>
            <a:r>
              <a:rPr lang="en-US" dirty="0"/>
              <a:t>can be used without modifying engines.</a:t>
            </a:r>
          </a:p>
        </p:txBody>
      </p:sp>
      <p:sp>
        <p:nvSpPr>
          <p:cNvPr id="4" name="Slide Number Placeholder 3"/>
          <p:cNvSpPr>
            <a:spLocks noGrp="1"/>
          </p:cNvSpPr>
          <p:nvPr>
            <p:ph type="sldNum" sz="quarter" idx="5"/>
          </p:nvPr>
        </p:nvSpPr>
        <p:spPr/>
        <p:txBody>
          <a:bodyPr/>
          <a:lstStyle/>
          <a:p>
            <a:fld id="{07858B4A-0D5A-EE4B-AA17-8F53F9DA4517}" type="slidenum">
              <a:rPr lang="en-US" smtClean="0"/>
              <a:t>7</a:t>
            </a:fld>
            <a:endParaRPr lang="en-US"/>
          </a:p>
        </p:txBody>
      </p:sp>
    </p:spTree>
    <p:extLst>
      <p:ext uri="{BB962C8B-B14F-4D97-AF65-F5344CB8AC3E}">
        <p14:creationId xmlns:p14="http://schemas.microsoft.com/office/powerpoint/2010/main" val="1745184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March 2016 United Airlines became the first airline </a:t>
            </a:r>
          </a:p>
          <a:p>
            <a:r>
              <a:rPr lang="en-US" dirty="0"/>
              <a:t>to use sustainable aviation fuel for routine operations at Los Angeles. World Energy (formerly </a:t>
            </a:r>
          </a:p>
          <a:p>
            <a:r>
              <a:rPr lang="en-US" dirty="0"/>
              <a:t>AltAir Fuels) supplies the fuel to the Los Angeles hub. </a:t>
            </a:r>
          </a:p>
          <a:p>
            <a:r>
              <a:rPr lang="en-US" dirty="0"/>
              <a:t>General Electric Aerospace reports that on December 1, 2021, United Airlines operated the first </a:t>
            </a:r>
          </a:p>
          <a:p>
            <a:r>
              <a:rPr lang="en-US" dirty="0"/>
              <a:t>passenger flight using 100% sustainable aviation fuel in one of two aircraft engines on a flight </a:t>
            </a:r>
          </a:p>
          <a:p>
            <a:r>
              <a:rPr lang="en-US" dirty="0"/>
              <a:t>from Chicago to Washington, D.C. on a Boeing 737 Max 8 with 115 passengers on board. At that </a:t>
            </a:r>
          </a:p>
          <a:p>
            <a:r>
              <a:rPr lang="en-US" dirty="0"/>
              <a:t>time, international standards following the process developed by ASTM international permitted </a:t>
            </a:r>
          </a:p>
          <a:p>
            <a:r>
              <a:rPr lang="en-US" dirty="0"/>
              <a:t>airlines to use a maximum of 50% SAF on commercial flights. On that flight, United Airlines </a:t>
            </a:r>
          </a:p>
          <a:p>
            <a:r>
              <a:rPr lang="en-US" dirty="0"/>
              <a:t>operated one of the planes’ engines on 100% SAF fuel and the other on conventional jet fuel, </a:t>
            </a:r>
          </a:p>
          <a:p>
            <a:r>
              <a:rPr lang="en-US" dirty="0"/>
              <a:t>which was about 500 gallons per engine. The SAF is interchangeable with conventional Jet A and </a:t>
            </a:r>
          </a:p>
          <a:p>
            <a:r>
              <a:rPr lang="en-US" dirty="0"/>
              <a:t>A1 fuel and requires no modifications to engines or airframes. GE Aviation’s SAF testing included </a:t>
            </a:r>
          </a:p>
          <a:p>
            <a:r>
              <a:rPr lang="en-US" dirty="0"/>
              <a:t>several industry-first test flights: the first commercial SAF demonstration test flight (2008), the </a:t>
            </a:r>
          </a:p>
          <a:p>
            <a:r>
              <a:rPr lang="en-US" dirty="0"/>
              <a:t>first SAF transatlantic flight of a large freight commercial airplane (2011), the first 100% SAF</a:t>
            </a:r>
          </a:p>
          <a:p>
            <a:r>
              <a:rPr lang="en-US" dirty="0"/>
              <a:t>military jet flight (2016) and the first use of power-to-liquid (PtL) earlier in 2021, in which renewable energy is used to split water in hydrogen and oxygen, then the resulting H2 is used </a:t>
            </a:r>
          </a:p>
          <a:p>
            <a:r>
              <a:rPr lang="en-US" dirty="0"/>
              <a:t>with captured CO2 to synthesize liquid hydrocarbon fuel. </a:t>
            </a:r>
          </a:p>
        </p:txBody>
      </p:sp>
      <p:sp>
        <p:nvSpPr>
          <p:cNvPr id="4" name="Slide Number Placeholder 3"/>
          <p:cNvSpPr>
            <a:spLocks noGrp="1"/>
          </p:cNvSpPr>
          <p:nvPr>
            <p:ph type="sldNum" sz="quarter" idx="5"/>
          </p:nvPr>
        </p:nvSpPr>
        <p:spPr/>
        <p:txBody>
          <a:bodyPr/>
          <a:lstStyle/>
          <a:p>
            <a:fld id="{07858B4A-0D5A-EE4B-AA17-8F53F9DA4517}" type="slidenum">
              <a:rPr lang="en-US" smtClean="0"/>
              <a:t>8</a:t>
            </a:fld>
            <a:endParaRPr lang="en-US"/>
          </a:p>
        </p:txBody>
      </p:sp>
    </p:spTree>
    <p:extLst>
      <p:ext uri="{BB962C8B-B14F-4D97-AF65-F5344CB8AC3E}">
        <p14:creationId xmlns:p14="http://schemas.microsoft.com/office/powerpoint/2010/main" val="2013386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United has made the largest commitment of any airline in the world towards the transition to </a:t>
            </a:r>
          </a:p>
          <a:p>
            <a:r>
              <a:rPr lang="en-US" dirty="0"/>
              <a:t>Sustainable Aviation Fuel. In Spring 2021, United launched the Eco-Skies Alliance program in </a:t>
            </a:r>
          </a:p>
          <a:p>
            <a:r>
              <a:rPr lang="en-US" dirty="0"/>
              <a:t>which a list of 29 corporate partners and counting have collectively contributed towards the </a:t>
            </a:r>
          </a:p>
          <a:p>
            <a:r>
              <a:rPr lang="en-US" dirty="0"/>
              <a:t>purchase of approximately 5.7 million gallons of SAF in 2021. This eliminates approximately </a:t>
            </a:r>
          </a:p>
          <a:p>
            <a:r>
              <a:rPr lang="en-US" dirty="0"/>
              <a:t>53,000 metric tons of GHG emissions, or enough to fly passengers over 372 million miles.</a:t>
            </a:r>
          </a:p>
        </p:txBody>
      </p:sp>
      <p:sp>
        <p:nvSpPr>
          <p:cNvPr id="4" name="Slide Number Placeholder 3"/>
          <p:cNvSpPr>
            <a:spLocks noGrp="1"/>
          </p:cNvSpPr>
          <p:nvPr>
            <p:ph type="sldNum" sz="quarter" idx="5"/>
          </p:nvPr>
        </p:nvSpPr>
        <p:spPr/>
        <p:txBody>
          <a:bodyPr/>
          <a:lstStyle/>
          <a:p>
            <a:fld id="{07858B4A-0D5A-EE4B-AA17-8F53F9DA4517}" type="slidenum">
              <a:rPr lang="en-US" smtClean="0"/>
              <a:t>9</a:t>
            </a:fld>
            <a:endParaRPr lang="en-US"/>
          </a:p>
        </p:txBody>
      </p:sp>
    </p:spTree>
    <p:extLst>
      <p:ext uri="{BB962C8B-B14F-4D97-AF65-F5344CB8AC3E}">
        <p14:creationId xmlns:p14="http://schemas.microsoft.com/office/powerpoint/2010/main" val="40497597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 production is growing with US production doubling between December 2024 and February </a:t>
            </a:r>
          </a:p>
          <a:p>
            <a:r>
              <a:rPr lang="en-US" dirty="0"/>
              <a:t>2025. SAF can reduce lifecycle CO2 emissions by up to 80%. SAF produces fewer chemical </a:t>
            </a:r>
          </a:p>
          <a:p>
            <a:r>
              <a:rPr lang="en-US" dirty="0"/>
              <a:t>pollutants and, due to lower aromatic content, reduces contrail formation, a major contributor </a:t>
            </a:r>
          </a:p>
          <a:p>
            <a:r>
              <a:rPr lang="en-US" dirty="0"/>
              <a:t>to radiative forcing (atmospheric warming). The aviation industry faces increasing pressure as </a:t>
            </a:r>
          </a:p>
          <a:p>
            <a:r>
              <a:rPr lang="en-US" dirty="0"/>
              <a:t>air traffic grows. Current efforts focus on scaling up, with 100% renewable fuel on the horizon, </a:t>
            </a:r>
          </a:p>
          <a:p>
            <a:r>
              <a:rPr lang="en-US" dirty="0"/>
              <a:t>alongside research into hydrogen and electric propulsion. Large-scale implementation could </a:t>
            </a:r>
          </a:p>
          <a:p>
            <a:r>
              <a:rPr lang="en-US" dirty="0"/>
              <a:t>contribute to 64% total emissions savings by 2050. The challenges of implementing sustainable </a:t>
            </a:r>
          </a:p>
          <a:p>
            <a:r>
              <a:rPr lang="en-US" dirty="0"/>
              <a:t>aviation fuel include the lack of production capacity as current production only meets 1% of the </a:t>
            </a:r>
          </a:p>
          <a:p>
            <a:r>
              <a:rPr lang="en-US" dirty="0"/>
              <a:t>global jet fuel demand. High production costs (USD 2500 per metric tonne (1000kg) for SAV vs </a:t>
            </a:r>
          </a:p>
          <a:p>
            <a:r>
              <a:rPr lang="en-US" dirty="0"/>
              <a:t>USD 734 for conventional fuel) limit voluntary uptake by airlines. A technology limitation of SAF </a:t>
            </a:r>
          </a:p>
          <a:p>
            <a:r>
              <a:rPr lang="en-US" dirty="0"/>
              <a:t>is that it requires requires significant energy to produce, which may affect scalability</a:t>
            </a:r>
          </a:p>
        </p:txBody>
      </p:sp>
      <p:sp>
        <p:nvSpPr>
          <p:cNvPr id="4" name="Slide Number Placeholder 3"/>
          <p:cNvSpPr>
            <a:spLocks noGrp="1"/>
          </p:cNvSpPr>
          <p:nvPr>
            <p:ph type="sldNum" sz="quarter" idx="5"/>
          </p:nvPr>
        </p:nvSpPr>
        <p:spPr/>
        <p:txBody>
          <a:bodyPr/>
          <a:lstStyle/>
          <a:p>
            <a:fld id="{07858B4A-0D5A-EE4B-AA17-8F53F9DA4517}" type="slidenum">
              <a:rPr lang="en-US" smtClean="0"/>
              <a:t>10</a:t>
            </a:fld>
            <a:endParaRPr lang="en-US"/>
          </a:p>
        </p:txBody>
      </p:sp>
    </p:spTree>
    <p:extLst>
      <p:ext uri="{BB962C8B-B14F-4D97-AF65-F5344CB8AC3E}">
        <p14:creationId xmlns:p14="http://schemas.microsoft.com/office/powerpoint/2010/main" val="906722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scale SAF, governments are implementing policies to incentivize production and mandate </a:t>
            </a:r>
          </a:p>
          <a:p>
            <a:r>
              <a:rPr lang="en-US" dirty="0"/>
              <a:t>usage, bridging the price gap. One such policy is the implementation of the world’s first ever </a:t>
            </a:r>
          </a:p>
          <a:p>
            <a:r>
              <a:rPr lang="en-US" dirty="0"/>
              <a:t>sustainable aviation fuel levy for flights that are departing from Singapore Changi Airport from </a:t>
            </a:r>
          </a:p>
          <a:p>
            <a:r>
              <a:rPr lang="en-US" dirty="0"/>
              <a:t>October 1, 2026 and for tickets sold from April 1, 2026, with a surcharge from S$1 to S$41.60 </a:t>
            </a:r>
          </a:p>
          <a:p>
            <a:r>
              <a:rPr lang="en-US" dirty="0"/>
              <a:t>per ticket depending on travel destination and airline class in four bands. This is to fund the </a:t>
            </a:r>
          </a:p>
          <a:p>
            <a:r>
              <a:rPr lang="en-US" dirty="0"/>
              <a:t>procurement of SAF, aiming for a 1% SAF blend at Changi and </a:t>
            </a:r>
            <a:r>
              <a:rPr lang="en-US" dirty="0" err="1"/>
              <a:t>Seletar</a:t>
            </a:r>
            <a:r>
              <a:rPr lang="en-US" dirty="0"/>
              <a:t> Airports in 2026, </a:t>
            </a:r>
          </a:p>
          <a:p>
            <a:r>
              <a:rPr lang="en-US" dirty="0"/>
              <a:t>increasing to 3-5% in 2030. At that point, levy adjustments will be made then. This fee applies to all departing passengers but excludes those in transit. The airline must collect the levy and </a:t>
            </a:r>
          </a:p>
          <a:p>
            <a:r>
              <a:rPr lang="en-US" dirty="0"/>
              <a:t>display it as a separate line item on air tickets sold and air cargo contracts. Training flights and </a:t>
            </a:r>
          </a:p>
          <a:p>
            <a:r>
              <a:rPr lang="en-US" dirty="0"/>
              <a:t>those for charitable or humanitarian purposes are exempt from the levy. Funds will be managed </a:t>
            </a:r>
          </a:p>
          <a:p>
            <a:r>
              <a:rPr lang="en-US" dirty="0"/>
              <a:t>by a central agency, SAF co. to aggregate demand and secure fuel, which is currently 3-5 times </a:t>
            </a:r>
          </a:p>
          <a:p>
            <a:r>
              <a:rPr lang="en-US" dirty="0"/>
              <a:t>more expensive than conventional fuel. This initiative aligns with Singapore’s commitment to </a:t>
            </a:r>
          </a:p>
          <a:p>
            <a:r>
              <a:rPr lang="en-US" dirty="0"/>
              <a:t>net-zero carbon emissions by 2050 (</a:t>
            </a:r>
            <a:r>
              <a:rPr lang="en-US" dirty="0" err="1"/>
              <a:t>Guang-Xi</a:t>
            </a:r>
            <a:r>
              <a:rPr lang="en-US" dirty="0"/>
              <a:t> 2025).</a:t>
            </a:r>
          </a:p>
        </p:txBody>
      </p:sp>
      <p:sp>
        <p:nvSpPr>
          <p:cNvPr id="4" name="Slide Number Placeholder 3"/>
          <p:cNvSpPr>
            <a:spLocks noGrp="1"/>
          </p:cNvSpPr>
          <p:nvPr>
            <p:ph type="sldNum" sz="quarter" idx="5"/>
          </p:nvPr>
        </p:nvSpPr>
        <p:spPr/>
        <p:txBody>
          <a:bodyPr/>
          <a:lstStyle/>
          <a:p>
            <a:fld id="{07858B4A-0D5A-EE4B-AA17-8F53F9DA4517}" type="slidenum">
              <a:rPr lang="en-US" smtClean="0"/>
              <a:t>11</a:t>
            </a:fld>
            <a:endParaRPr lang="en-US"/>
          </a:p>
        </p:txBody>
      </p:sp>
    </p:spTree>
    <p:extLst>
      <p:ext uri="{BB962C8B-B14F-4D97-AF65-F5344CB8AC3E}">
        <p14:creationId xmlns:p14="http://schemas.microsoft.com/office/powerpoint/2010/main" val="26267517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progression from the Wright Brothers’s innovation to the use of Sustainable Aviation Fuel </a:t>
            </a:r>
          </a:p>
          <a:p>
            <a:r>
              <a:rPr lang="en-US" dirty="0"/>
              <a:t>and Singapore’s world first sustainable aviation fuel levy proves that the future of flight requires </a:t>
            </a:r>
          </a:p>
          <a:p>
            <a:r>
              <a:rPr lang="en-US" dirty="0"/>
              <a:t>blending the pioneering spirit of early aviation with the modern environmental science. While </a:t>
            </a:r>
          </a:p>
          <a:p>
            <a:r>
              <a:rPr lang="en-US" dirty="0"/>
              <a:t>SAF is a technology that can be used in conventional jet engines, its success depends heavily on </a:t>
            </a:r>
          </a:p>
          <a:p>
            <a:r>
              <a:rPr lang="en-US" dirty="0"/>
              <a:t>such policy-driven funding to ensure scalability. As Singapore acts as a catalyst on this, the </a:t>
            </a:r>
          </a:p>
          <a:p>
            <a:r>
              <a:rPr lang="en-US" dirty="0"/>
              <a:t>transition to cleaner, more sustainable aviation represents the move from concept to reality </a:t>
            </a:r>
          </a:p>
          <a:p>
            <a:r>
              <a:rPr lang="en-US" dirty="0"/>
              <a:t>while bridging the gap between historical achievement and environmental necessity</a:t>
            </a:r>
          </a:p>
        </p:txBody>
      </p:sp>
      <p:sp>
        <p:nvSpPr>
          <p:cNvPr id="4" name="Slide Number Placeholder 3"/>
          <p:cNvSpPr>
            <a:spLocks noGrp="1"/>
          </p:cNvSpPr>
          <p:nvPr>
            <p:ph type="sldNum" sz="quarter" idx="5"/>
          </p:nvPr>
        </p:nvSpPr>
        <p:spPr/>
        <p:txBody>
          <a:bodyPr/>
          <a:lstStyle/>
          <a:p>
            <a:fld id="{07858B4A-0D5A-EE4B-AA17-8F53F9DA4517}" type="slidenum">
              <a:rPr lang="en-US" smtClean="0"/>
              <a:t>12</a:t>
            </a:fld>
            <a:endParaRPr lang="en-US"/>
          </a:p>
        </p:txBody>
      </p:sp>
    </p:spTree>
    <p:extLst>
      <p:ext uri="{BB962C8B-B14F-4D97-AF65-F5344CB8AC3E}">
        <p14:creationId xmlns:p14="http://schemas.microsoft.com/office/powerpoint/2010/main" val="2127056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1A39F-9B17-543D-2FE4-C1468CA38E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E12A1D-6785-2008-B7C5-2F30D6B152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0E206B-95B2-6AE8-895F-FB27B86FEB8B}"/>
              </a:ext>
            </a:extLst>
          </p:cNvPr>
          <p:cNvSpPr>
            <a:spLocks noGrp="1"/>
          </p:cNvSpPr>
          <p:nvPr>
            <p:ph type="dt" sz="half" idx="10"/>
          </p:nvPr>
        </p:nvSpPr>
        <p:spPr/>
        <p:txBody>
          <a:bodyPr/>
          <a:lstStyle/>
          <a:p>
            <a:fld id="{76BB03D7-9E2A-A24B-906E-7DE3156F8471}" type="datetimeFigureOut">
              <a:rPr lang="en-US" smtClean="0"/>
              <a:t>3/11/26</a:t>
            </a:fld>
            <a:endParaRPr lang="en-US"/>
          </a:p>
        </p:txBody>
      </p:sp>
      <p:sp>
        <p:nvSpPr>
          <p:cNvPr id="5" name="Footer Placeholder 4">
            <a:extLst>
              <a:ext uri="{FF2B5EF4-FFF2-40B4-BE49-F238E27FC236}">
                <a16:creationId xmlns:a16="http://schemas.microsoft.com/office/drawing/2014/main" id="{CDD126C3-9959-834C-2034-B0508DA456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F382E9-BC7F-6CFB-CAEC-16A658B21E86}"/>
              </a:ext>
            </a:extLst>
          </p:cNvPr>
          <p:cNvSpPr>
            <a:spLocks noGrp="1"/>
          </p:cNvSpPr>
          <p:nvPr>
            <p:ph type="sldNum" sz="quarter" idx="12"/>
          </p:nvPr>
        </p:nvSpPr>
        <p:spPr/>
        <p:txBody>
          <a:bodyPr/>
          <a:lstStyle/>
          <a:p>
            <a:fld id="{A3CEDEBD-8B87-6845-AB19-A1EA0676D451}" type="slidenum">
              <a:rPr lang="en-US" smtClean="0"/>
              <a:t>‹#›</a:t>
            </a:fld>
            <a:endParaRPr lang="en-US"/>
          </a:p>
        </p:txBody>
      </p:sp>
    </p:spTree>
    <p:extLst>
      <p:ext uri="{BB962C8B-B14F-4D97-AF65-F5344CB8AC3E}">
        <p14:creationId xmlns:p14="http://schemas.microsoft.com/office/powerpoint/2010/main" val="3423263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02E06-9A98-4E39-90E7-6CBFAE87C2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41A125-5356-A41E-3C9A-E021387865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82E812-DB4C-6A2F-E2DD-3AD7EA435BFA}"/>
              </a:ext>
            </a:extLst>
          </p:cNvPr>
          <p:cNvSpPr>
            <a:spLocks noGrp="1"/>
          </p:cNvSpPr>
          <p:nvPr>
            <p:ph type="dt" sz="half" idx="10"/>
          </p:nvPr>
        </p:nvSpPr>
        <p:spPr/>
        <p:txBody>
          <a:bodyPr/>
          <a:lstStyle/>
          <a:p>
            <a:fld id="{76BB03D7-9E2A-A24B-906E-7DE3156F8471}" type="datetimeFigureOut">
              <a:rPr lang="en-US" smtClean="0"/>
              <a:t>3/11/26</a:t>
            </a:fld>
            <a:endParaRPr lang="en-US"/>
          </a:p>
        </p:txBody>
      </p:sp>
      <p:sp>
        <p:nvSpPr>
          <p:cNvPr id="5" name="Footer Placeholder 4">
            <a:extLst>
              <a:ext uri="{FF2B5EF4-FFF2-40B4-BE49-F238E27FC236}">
                <a16:creationId xmlns:a16="http://schemas.microsoft.com/office/drawing/2014/main" id="{803C7CFE-3B2D-10B1-205D-09037C11C2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C975D-AF72-5553-173D-B7A0B5CD1E13}"/>
              </a:ext>
            </a:extLst>
          </p:cNvPr>
          <p:cNvSpPr>
            <a:spLocks noGrp="1"/>
          </p:cNvSpPr>
          <p:nvPr>
            <p:ph type="sldNum" sz="quarter" idx="12"/>
          </p:nvPr>
        </p:nvSpPr>
        <p:spPr/>
        <p:txBody>
          <a:bodyPr/>
          <a:lstStyle/>
          <a:p>
            <a:fld id="{A3CEDEBD-8B87-6845-AB19-A1EA0676D451}" type="slidenum">
              <a:rPr lang="en-US" smtClean="0"/>
              <a:t>‹#›</a:t>
            </a:fld>
            <a:endParaRPr lang="en-US"/>
          </a:p>
        </p:txBody>
      </p:sp>
    </p:spTree>
    <p:extLst>
      <p:ext uri="{BB962C8B-B14F-4D97-AF65-F5344CB8AC3E}">
        <p14:creationId xmlns:p14="http://schemas.microsoft.com/office/powerpoint/2010/main" val="2873332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6CF8D-833B-0A22-DBC8-FF54B1E605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039A6E-905C-28A3-2520-5F6C568CA7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B43310-A69B-AF99-E56C-BF3C460C7B06}"/>
              </a:ext>
            </a:extLst>
          </p:cNvPr>
          <p:cNvSpPr>
            <a:spLocks noGrp="1"/>
          </p:cNvSpPr>
          <p:nvPr>
            <p:ph type="dt" sz="half" idx="10"/>
          </p:nvPr>
        </p:nvSpPr>
        <p:spPr/>
        <p:txBody>
          <a:bodyPr/>
          <a:lstStyle/>
          <a:p>
            <a:fld id="{76BB03D7-9E2A-A24B-906E-7DE3156F8471}" type="datetimeFigureOut">
              <a:rPr lang="en-US" smtClean="0"/>
              <a:t>3/11/26</a:t>
            </a:fld>
            <a:endParaRPr lang="en-US"/>
          </a:p>
        </p:txBody>
      </p:sp>
      <p:sp>
        <p:nvSpPr>
          <p:cNvPr id="5" name="Footer Placeholder 4">
            <a:extLst>
              <a:ext uri="{FF2B5EF4-FFF2-40B4-BE49-F238E27FC236}">
                <a16:creationId xmlns:a16="http://schemas.microsoft.com/office/drawing/2014/main" id="{48A2239C-20D2-A1E0-317C-537321C7CE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654D1C-36A7-1076-56A3-DD9181DC0424}"/>
              </a:ext>
            </a:extLst>
          </p:cNvPr>
          <p:cNvSpPr>
            <a:spLocks noGrp="1"/>
          </p:cNvSpPr>
          <p:nvPr>
            <p:ph type="sldNum" sz="quarter" idx="12"/>
          </p:nvPr>
        </p:nvSpPr>
        <p:spPr/>
        <p:txBody>
          <a:bodyPr/>
          <a:lstStyle/>
          <a:p>
            <a:fld id="{A3CEDEBD-8B87-6845-AB19-A1EA0676D451}" type="slidenum">
              <a:rPr lang="en-US" smtClean="0"/>
              <a:t>‹#›</a:t>
            </a:fld>
            <a:endParaRPr lang="en-US"/>
          </a:p>
        </p:txBody>
      </p:sp>
    </p:spTree>
    <p:extLst>
      <p:ext uri="{BB962C8B-B14F-4D97-AF65-F5344CB8AC3E}">
        <p14:creationId xmlns:p14="http://schemas.microsoft.com/office/powerpoint/2010/main" val="1217993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44A36-700B-5870-551B-69B9B06DDA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903C7B-F836-CFE5-4995-80C2C89534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9DDBE4-F1D1-43AC-C5B0-B5E867D9B7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F49E9A-B5CC-113E-6893-211F2E6C9937}"/>
              </a:ext>
            </a:extLst>
          </p:cNvPr>
          <p:cNvSpPr>
            <a:spLocks noGrp="1"/>
          </p:cNvSpPr>
          <p:nvPr>
            <p:ph type="dt" sz="half" idx="10"/>
          </p:nvPr>
        </p:nvSpPr>
        <p:spPr/>
        <p:txBody>
          <a:bodyPr/>
          <a:lstStyle/>
          <a:p>
            <a:fld id="{76BB03D7-9E2A-A24B-906E-7DE3156F8471}" type="datetimeFigureOut">
              <a:rPr lang="en-US" smtClean="0"/>
              <a:t>3/11/26</a:t>
            </a:fld>
            <a:endParaRPr lang="en-US"/>
          </a:p>
        </p:txBody>
      </p:sp>
      <p:sp>
        <p:nvSpPr>
          <p:cNvPr id="6" name="Footer Placeholder 5">
            <a:extLst>
              <a:ext uri="{FF2B5EF4-FFF2-40B4-BE49-F238E27FC236}">
                <a16:creationId xmlns:a16="http://schemas.microsoft.com/office/drawing/2014/main" id="{5FC71E00-129E-91E4-F713-837A15D5B6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968995-82CF-DE37-C92B-D5B951E7BCC4}"/>
              </a:ext>
            </a:extLst>
          </p:cNvPr>
          <p:cNvSpPr>
            <a:spLocks noGrp="1"/>
          </p:cNvSpPr>
          <p:nvPr>
            <p:ph type="sldNum" sz="quarter" idx="12"/>
          </p:nvPr>
        </p:nvSpPr>
        <p:spPr/>
        <p:txBody>
          <a:bodyPr/>
          <a:lstStyle/>
          <a:p>
            <a:fld id="{A3CEDEBD-8B87-6845-AB19-A1EA0676D451}" type="slidenum">
              <a:rPr lang="en-US" smtClean="0"/>
              <a:t>‹#›</a:t>
            </a:fld>
            <a:endParaRPr lang="en-US"/>
          </a:p>
        </p:txBody>
      </p:sp>
    </p:spTree>
    <p:extLst>
      <p:ext uri="{BB962C8B-B14F-4D97-AF65-F5344CB8AC3E}">
        <p14:creationId xmlns:p14="http://schemas.microsoft.com/office/powerpoint/2010/main" val="861002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6FDF9-C119-49B1-DE09-0472BE5AB87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54339B-B320-9AE0-45A0-B20A2BB8FB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150DBF-7AD6-E811-F9F3-E836DED40D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AA2E9E-5227-2D73-6661-46FDCF02C2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40F901-6FAB-4A20-F1F3-E82F57B7A5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420C7C-1F3B-BA8E-B42E-95AAE8907163}"/>
              </a:ext>
            </a:extLst>
          </p:cNvPr>
          <p:cNvSpPr>
            <a:spLocks noGrp="1"/>
          </p:cNvSpPr>
          <p:nvPr>
            <p:ph type="dt" sz="half" idx="10"/>
          </p:nvPr>
        </p:nvSpPr>
        <p:spPr/>
        <p:txBody>
          <a:bodyPr/>
          <a:lstStyle/>
          <a:p>
            <a:fld id="{76BB03D7-9E2A-A24B-906E-7DE3156F8471}" type="datetimeFigureOut">
              <a:rPr lang="en-US" smtClean="0"/>
              <a:t>3/11/26</a:t>
            </a:fld>
            <a:endParaRPr lang="en-US"/>
          </a:p>
        </p:txBody>
      </p:sp>
      <p:sp>
        <p:nvSpPr>
          <p:cNvPr id="8" name="Footer Placeholder 7">
            <a:extLst>
              <a:ext uri="{FF2B5EF4-FFF2-40B4-BE49-F238E27FC236}">
                <a16:creationId xmlns:a16="http://schemas.microsoft.com/office/drawing/2014/main" id="{4B01809E-7B93-9A62-03D5-0D9B05C7E0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CA626A6-BC44-2E1F-CA03-4DF96B95443C}"/>
              </a:ext>
            </a:extLst>
          </p:cNvPr>
          <p:cNvSpPr>
            <a:spLocks noGrp="1"/>
          </p:cNvSpPr>
          <p:nvPr>
            <p:ph type="sldNum" sz="quarter" idx="12"/>
          </p:nvPr>
        </p:nvSpPr>
        <p:spPr/>
        <p:txBody>
          <a:bodyPr/>
          <a:lstStyle/>
          <a:p>
            <a:fld id="{A3CEDEBD-8B87-6845-AB19-A1EA0676D451}" type="slidenum">
              <a:rPr lang="en-US" smtClean="0"/>
              <a:t>‹#›</a:t>
            </a:fld>
            <a:endParaRPr lang="en-US"/>
          </a:p>
        </p:txBody>
      </p:sp>
    </p:spTree>
    <p:extLst>
      <p:ext uri="{BB962C8B-B14F-4D97-AF65-F5344CB8AC3E}">
        <p14:creationId xmlns:p14="http://schemas.microsoft.com/office/powerpoint/2010/main" val="3746722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F3897-D18D-E1E8-EF28-11763B287E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3965989-1F41-79B8-3EA3-8D29067D957F}"/>
              </a:ext>
            </a:extLst>
          </p:cNvPr>
          <p:cNvSpPr>
            <a:spLocks noGrp="1"/>
          </p:cNvSpPr>
          <p:nvPr>
            <p:ph type="dt" sz="half" idx="10"/>
          </p:nvPr>
        </p:nvSpPr>
        <p:spPr/>
        <p:txBody>
          <a:bodyPr/>
          <a:lstStyle/>
          <a:p>
            <a:fld id="{76BB03D7-9E2A-A24B-906E-7DE3156F8471}" type="datetimeFigureOut">
              <a:rPr lang="en-US" smtClean="0"/>
              <a:t>3/11/26</a:t>
            </a:fld>
            <a:endParaRPr lang="en-US"/>
          </a:p>
        </p:txBody>
      </p:sp>
      <p:sp>
        <p:nvSpPr>
          <p:cNvPr id="4" name="Footer Placeholder 3">
            <a:extLst>
              <a:ext uri="{FF2B5EF4-FFF2-40B4-BE49-F238E27FC236}">
                <a16:creationId xmlns:a16="http://schemas.microsoft.com/office/drawing/2014/main" id="{746239B5-6EDB-BB9B-4B27-CD595DFC78A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F221B6-B21E-7E49-458E-CD96896FFD8A}"/>
              </a:ext>
            </a:extLst>
          </p:cNvPr>
          <p:cNvSpPr>
            <a:spLocks noGrp="1"/>
          </p:cNvSpPr>
          <p:nvPr>
            <p:ph type="sldNum" sz="quarter" idx="12"/>
          </p:nvPr>
        </p:nvSpPr>
        <p:spPr/>
        <p:txBody>
          <a:bodyPr/>
          <a:lstStyle/>
          <a:p>
            <a:fld id="{A3CEDEBD-8B87-6845-AB19-A1EA0676D451}" type="slidenum">
              <a:rPr lang="en-US" smtClean="0"/>
              <a:t>‹#›</a:t>
            </a:fld>
            <a:endParaRPr lang="en-US"/>
          </a:p>
        </p:txBody>
      </p:sp>
    </p:spTree>
    <p:extLst>
      <p:ext uri="{BB962C8B-B14F-4D97-AF65-F5344CB8AC3E}">
        <p14:creationId xmlns:p14="http://schemas.microsoft.com/office/powerpoint/2010/main" val="1222844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5D029F-F1DC-CC32-F56E-71693864D2FD}"/>
              </a:ext>
            </a:extLst>
          </p:cNvPr>
          <p:cNvSpPr>
            <a:spLocks noGrp="1"/>
          </p:cNvSpPr>
          <p:nvPr>
            <p:ph type="dt" sz="half" idx="10"/>
          </p:nvPr>
        </p:nvSpPr>
        <p:spPr/>
        <p:txBody>
          <a:bodyPr/>
          <a:lstStyle/>
          <a:p>
            <a:fld id="{76BB03D7-9E2A-A24B-906E-7DE3156F8471}" type="datetimeFigureOut">
              <a:rPr lang="en-US" smtClean="0"/>
              <a:t>3/11/26</a:t>
            </a:fld>
            <a:endParaRPr lang="en-US"/>
          </a:p>
        </p:txBody>
      </p:sp>
      <p:sp>
        <p:nvSpPr>
          <p:cNvPr id="3" name="Footer Placeholder 2">
            <a:extLst>
              <a:ext uri="{FF2B5EF4-FFF2-40B4-BE49-F238E27FC236}">
                <a16:creationId xmlns:a16="http://schemas.microsoft.com/office/drawing/2014/main" id="{7772ECDC-E0DB-8F1C-0C28-1510266050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132D25-D1B1-8E40-D17C-713A6C831E0E}"/>
              </a:ext>
            </a:extLst>
          </p:cNvPr>
          <p:cNvSpPr>
            <a:spLocks noGrp="1"/>
          </p:cNvSpPr>
          <p:nvPr>
            <p:ph type="sldNum" sz="quarter" idx="12"/>
          </p:nvPr>
        </p:nvSpPr>
        <p:spPr/>
        <p:txBody>
          <a:bodyPr/>
          <a:lstStyle/>
          <a:p>
            <a:fld id="{A3CEDEBD-8B87-6845-AB19-A1EA0676D451}" type="slidenum">
              <a:rPr lang="en-US" smtClean="0"/>
              <a:t>‹#›</a:t>
            </a:fld>
            <a:endParaRPr lang="en-US"/>
          </a:p>
        </p:txBody>
      </p:sp>
    </p:spTree>
    <p:extLst>
      <p:ext uri="{BB962C8B-B14F-4D97-AF65-F5344CB8AC3E}">
        <p14:creationId xmlns:p14="http://schemas.microsoft.com/office/powerpoint/2010/main" val="2697824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F8751-E6C9-FDCA-424C-AEE4060F96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48F95D-775D-42A9-2D47-99A72AAB19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A22791-C21A-2440-2F21-ED4BC0CF3D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E22891-258A-9625-6434-A5EE5BCB6059}"/>
              </a:ext>
            </a:extLst>
          </p:cNvPr>
          <p:cNvSpPr>
            <a:spLocks noGrp="1"/>
          </p:cNvSpPr>
          <p:nvPr>
            <p:ph type="dt" sz="half" idx="10"/>
          </p:nvPr>
        </p:nvSpPr>
        <p:spPr/>
        <p:txBody>
          <a:bodyPr/>
          <a:lstStyle/>
          <a:p>
            <a:fld id="{76BB03D7-9E2A-A24B-906E-7DE3156F8471}" type="datetimeFigureOut">
              <a:rPr lang="en-US" smtClean="0"/>
              <a:t>3/11/26</a:t>
            </a:fld>
            <a:endParaRPr lang="en-US"/>
          </a:p>
        </p:txBody>
      </p:sp>
      <p:sp>
        <p:nvSpPr>
          <p:cNvPr id="6" name="Footer Placeholder 5">
            <a:extLst>
              <a:ext uri="{FF2B5EF4-FFF2-40B4-BE49-F238E27FC236}">
                <a16:creationId xmlns:a16="http://schemas.microsoft.com/office/drawing/2014/main" id="{7B1EF735-A200-1B86-EFED-18FE3FC377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DDEF5F-868C-78B5-5952-F588F1C9959F}"/>
              </a:ext>
            </a:extLst>
          </p:cNvPr>
          <p:cNvSpPr>
            <a:spLocks noGrp="1"/>
          </p:cNvSpPr>
          <p:nvPr>
            <p:ph type="sldNum" sz="quarter" idx="12"/>
          </p:nvPr>
        </p:nvSpPr>
        <p:spPr/>
        <p:txBody>
          <a:bodyPr/>
          <a:lstStyle/>
          <a:p>
            <a:fld id="{A3CEDEBD-8B87-6845-AB19-A1EA0676D451}" type="slidenum">
              <a:rPr lang="en-US" smtClean="0"/>
              <a:t>‹#›</a:t>
            </a:fld>
            <a:endParaRPr lang="en-US"/>
          </a:p>
        </p:txBody>
      </p:sp>
    </p:spTree>
    <p:extLst>
      <p:ext uri="{BB962C8B-B14F-4D97-AF65-F5344CB8AC3E}">
        <p14:creationId xmlns:p14="http://schemas.microsoft.com/office/powerpoint/2010/main" val="1975368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13B33-EF9C-971E-F4EF-84066EBCB5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08E2BE1-52D7-56AA-EEFA-B05FC18191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76201C-CA87-1C50-1AE8-879EA4DBFB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C41A27-B855-3EF6-A277-2C915AB4D879}"/>
              </a:ext>
            </a:extLst>
          </p:cNvPr>
          <p:cNvSpPr>
            <a:spLocks noGrp="1"/>
          </p:cNvSpPr>
          <p:nvPr>
            <p:ph type="dt" sz="half" idx="10"/>
          </p:nvPr>
        </p:nvSpPr>
        <p:spPr/>
        <p:txBody>
          <a:bodyPr/>
          <a:lstStyle/>
          <a:p>
            <a:fld id="{76BB03D7-9E2A-A24B-906E-7DE3156F8471}" type="datetimeFigureOut">
              <a:rPr lang="en-US" smtClean="0"/>
              <a:t>3/11/26</a:t>
            </a:fld>
            <a:endParaRPr lang="en-US"/>
          </a:p>
        </p:txBody>
      </p:sp>
      <p:sp>
        <p:nvSpPr>
          <p:cNvPr id="6" name="Footer Placeholder 5">
            <a:extLst>
              <a:ext uri="{FF2B5EF4-FFF2-40B4-BE49-F238E27FC236}">
                <a16:creationId xmlns:a16="http://schemas.microsoft.com/office/drawing/2014/main" id="{CF2A39BB-FBF2-D019-0C8E-AF7E7B0D80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DEF7D4-2964-C455-1615-2EE444B6FF42}"/>
              </a:ext>
            </a:extLst>
          </p:cNvPr>
          <p:cNvSpPr>
            <a:spLocks noGrp="1"/>
          </p:cNvSpPr>
          <p:nvPr>
            <p:ph type="sldNum" sz="quarter" idx="12"/>
          </p:nvPr>
        </p:nvSpPr>
        <p:spPr/>
        <p:txBody>
          <a:bodyPr/>
          <a:lstStyle/>
          <a:p>
            <a:fld id="{A3CEDEBD-8B87-6845-AB19-A1EA0676D451}" type="slidenum">
              <a:rPr lang="en-US" smtClean="0"/>
              <a:t>‹#›</a:t>
            </a:fld>
            <a:endParaRPr lang="en-US"/>
          </a:p>
        </p:txBody>
      </p:sp>
    </p:spTree>
    <p:extLst>
      <p:ext uri="{BB962C8B-B14F-4D97-AF65-F5344CB8AC3E}">
        <p14:creationId xmlns:p14="http://schemas.microsoft.com/office/powerpoint/2010/main" val="975932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6CA79-6040-BC3A-0B3A-03FE38B1AD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418D80-6562-81C4-CB94-55D2CF3ACB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88BADE-6E93-1429-D028-4ED55C232D9C}"/>
              </a:ext>
            </a:extLst>
          </p:cNvPr>
          <p:cNvSpPr>
            <a:spLocks noGrp="1"/>
          </p:cNvSpPr>
          <p:nvPr>
            <p:ph type="dt" sz="half" idx="10"/>
          </p:nvPr>
        </p:nvSpPr>
        <p:spPr/>
        <p:txBody>
          <a:bodyPr/>
          <a:lstStyle/>
          <a:p>
            <a:fld id="{76BB03D7-9E2A-A24B-906E-7DE3156F8471}" type="datetimeFigureOut">
              <a:rPr lang="en-US" smtClean="0"/>
              <a:t>3/11/26</a:t>
            </a:fld>
            <a:endParaRPr lang="en-US"/>
          </a:p>
        </p:txBody>
      </p:sp>
      <p:sp>
        <p:nvSpPr>
          <p:cNvPr id="5" name="Footer Placeholder 4">
            <a:extLst>
              <a:ext uri="{FF2B5EF4-FFF2-40B4-BE49-F238E27FC236}">
                <a16:creationId xmlns:a16="http://schemas.microsoft.com/office/drawing/2014/main" id="{A2B568A9-A4E5-CE53-52E0-83DBA15AA9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628249-73FF-AAC3-F14E-49E62BC05A39}"/>
              </a:ext>
            </a:extLst>
          </p:cNvPr>
          <p:cNvSpPr>
            <a:spLocks noGrp="1"/>
          </p:cNvSpPr>
          <p:nvPr>
            <p:ph type="sldNum" sz="quarter" idx="12"/>
          </p:nvPr>
        </p:nvSpPr>
        <p:spPr/>
        <p:txBody>
          <a:bodyPr/>
          <a:lstStyle/>
          <a:p>
            <a:fld id="{A3CEDEBD-8B87-6845-AB19-A1EA0676D451}" type="slidenum">
              <a:rPr lang="en-US" smtClean="0"/>
              <a:t>‹#›</a:t>
            </a:fld>
            <a:endParaRPr lang="en-US"/>
          </a:p>
        </p:txBody>
      </p:sp>
    </p:spTree>
    <p:extLst>
      <p:ext uri="{BB962C8B-B14F-4D97-AF65-F5344CB8AC3E}">
        <p14:creationId xmlns:p14="http://schemas.microsoft.com/office/powerpoint/2010/main" val="2130240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4F47B3-2F06-F86E-0B89-7E8A4AD93BF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1E2362-D541-FBE8-A4ED-1D159067BC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01D1FE-6612-A158-4A44-9503DEA242F1}"/>
              </a:ext>
            </a:extLst>
          </p:cNvPr>
          <p:cNvSpPr>
            <a:spLocks noGrp="1"/>
          </p:cNvSpPr>
          <p:nvPr>
            <p:ph type="dt" sz="half" idx="10"/>
          </p:nvPr>
        </p:nvSpPr>
        <p:spPr/>
        <p:txBody>
          <a:bodyPr/>
          <a:lstStyle/>
          <a:p>
            <a:fld id="{76BB03D7-9E2A-A24B-906E-7DE3156F8471}" type="datetimeFigureOut">
              <a:rPr lang="en-US" smtClean="0"/>
              <a:t>3/11/26</a:t>
            </a:fld>
            <a:endParaRPr lang="en-US"/>
          </a:p>
        </p:txBody>
      </p:sp>
      <p:sp>
        <p:nvSpPr>
          <p:cNvPr id="5" name="Footer Placeholder 4">
            <a:extLst>
              <a:ext uri="{FF2B5EF4-FFF2-40B4-BE49-F238E27FC236}">
                <a16:creationId xmlns:a16="http://schemas.microsoft.com/office/drawing/2014/main" id="{DF7FF77A-190F-16B5-26F6-8F1423E445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A3CB38-CDF9-A903-C4B8-4330F584E0E4}"/>
              </a:ext>
            </a:extLst>
          </p:cNvPr>
          <p:cNvSpPr>
            <a:spLocks noGrp="1"/>
          </p:cNvSpPr>
          <p:nvPr>
            <p:ph type="sldNum" sz="quarter" idx="12"/>
          </p:nvPr>
        </p:nvSpPr>
        <p:spPr/>
        <p:txBody>
          <a:bodyPr/>
          <a:lstStyle/>
          <a:p>
            <a:fld id="{A3CEDEBD-8B87-6845-AB19-A1EA0676D451}" type="slidenum">
              <a:rPr lang="en-US" smtClean="0"/>
              <a:t>‹#›</a:t>
            </a:fld>
            <a:endParaRPr lang="en-US"/>
          </a:p>
        </p:txBody>
      </p:sp>
    </p:spTree>
    <p:extLst>
      <p:ext uri="{BB962C8B-B14F-4D97-AF65-F5344CB8AC3E}">
        <p14:creationId xmlns:p14="http://schemas.microsoft.com/office/powerpoint/2010/main" val="3631643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914C7A-A4B3-AC3A-0AE0-EBCC191A56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398581-C31D-EC84-5FCC-2F9F53774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74CF75-A6EA-9E9C-6AE7-652906F77D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BB03D7-9E2A-A24B-906E-7DE3156F8471}" type="datetimeFigureOut">
              <a:rPr lang="en-US" smtClean="0"/>
              <a:t>3/11/26</a:t>
            </a:fld>
            <a:endParaRPr lang="en-US"/>
          </a:p>
        </p:txBody>
      </p:sp>
      <p:sp>
        <p:nvSpPr>
          <p:cNvPr id="5" name="Footer Placeholder 4">
            <a:extLst>
              <a:ext uri="{FF2B5EF4-FFF2-40B4-BE49-F238E27FC236}">
                <a16:creationId xmlns:a16="http://schemas.microsoft.com/office/drawing/2014/main" id="{C16B8483-3406-86AF-B3E3-0B287B8D02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5DC6C78-95AE-2D48-57A0-372AA27111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3CEDEBD-8B87-6845-AB19-A1EA0676D451}" type="slidenum">
              <a:rPr lang="en-US" smtClean="0"/>
              <a:t>‹#›</a:t>
            </a:fld>
            <a:endParaRPr lang="en-US"/>
          </a:p>
        </p:txBody>
      </p:sp>
    </p:spTree>
    <p:extLst>
      <p:ext uri="{BB962C8B-B14F-4D97-AF65-F5344CB8AC3E}">
        <p14:creationId xmlns:p14="http://schemas.microsoft.com/office/powerpoint/2010/main" val="10207740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gif"/></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C6463-CBDC-574C-382D-7262C288433E}"/>
              </a:ext>
            </a:extLst>
          </p:cNvPr>
          <p:cNvSpPr>
            <a:spLocks noGrp="1"/>
          </p:cNvSpPr>
          <p:nvPr>
            <p:ph type="ctrTitle"/>
          </p:nvPr>
        </p:nvSpPr>
        <p:spPr/>
        <p:txBody>
          <a:bodyPr>
            <a:normAutofit fontScale="90000"/>
          </a:bodyPr>
          <a:lstStyle/>
          <a:p>
            <a:r>
              <a:rPr lang="en-US" dirty="0"/>
              <a:t>Decarbonization of airlines from the Wright Brothers to Sustainable Aviation Fuel</a:t>
            </a:r>
          </a:p>
        </p:txBody>
      </p:sp>
      <p:sp>
        <p:nvSpPr>
          <p:cNvPr id="3" name="Subtitle 2">
            <a:extLst>
              <a:ext uri="{FF2B5EF4-FFF2-40B4-BE49-F238E27FC236}">
                <a16:creationId xmlns:a16="http://schemas.microsoft.com/office/drawing/2014/main" id="{A4EE51EC-F5B0-A395-CAF8-6B968327B59E}"/>
              </a:ext>
            </a:extLst>
          </p:cNvPr>
          <p:cNvSpPr>
            <a:spLocks noGrp="1"/>
          </p:cNvSpPr>
          <p:nvPr>
            <p:ph type="subTitle" idx="1"/>
          </p:nvPr>
        </p:nvSpPr>
        <p:spPr/>
        <p:txBody>
          <a:bodyPr/>
          <a:lstStyle/>
          <a:p>
            <a:r>
              <a:rPr lang="en-US" dirty="0"/>
              <a:t>Matthew Kurniawan</a:t>
            </a:r>
          </a:p>
        </p:txBody>
      </p:sp>
    </p:spTree>
    <p:extLst>
      <p:ext uri="{BB962C8B-B14F-4D97-AF65-F5344CB8AC3E}">
        <p14:creationId xmlns:p14="http://schemas.microsoft.com/office/powerpoint/2010/main" val="1856129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D96FDFD-4E42-4A06-B8B5-768A1DB9C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A66531-090D-68B9-7A00-FEFCA72580D3}"/>
              </a:ext>
            </a:extLst>
          </p:cNvPr>
          <p:cNvSpPr>
            <a:spLocks noGrp="1"/>
          </p:cNvSpPr>
          <p:nvPr>
            <p:ph type="title"/>
          </p:nvPr>
        </p:nvSpPr>
        <p:spPr>
          <a:xfrm>
            <a:off x="971368" y="371719"/>
            <a:ext cx="6125964" cy="1906863"/>
          </a:xfrm>
        </p:spPr>
        <p:txBody>
          <a:bodyPr anchor="b">
            <a:normAutofit/>
          </a:bodyPr>
          <a:lstStyle/>
          <a:p>
            <a:r>
              <a:rPr lang="en-US" dirty="0"/>
              <a:t>Introduction</a:t>
            </a:r>
          </a:p>
        </p:txBody>
      </p:sp>
      <p:sp>
        <p:nvSpPr>
          <p:cNvPr id="24" name="Content Placeholder 23">
            <a:extLst>
              <a:ext uri="{FF2B5EF4-FFF2-40B4-BE49-F238E27FC236}">
                <a16:creationId xmlns:a16="http://schemas.microsoft.com/office/drawing/2014/main" id="{88C2FBA1-4149-AB0A-0E99-CBB44E0060C2}"/>
              </a:ext>
            </a:extLst>
          </p:cNvPr>
          <p:cNvSpPr>
            <a:spLocks noGrp="1"/>
          </p:cNvSpPr>
          <p:nvPr>
            <p:ph idx="1"/>
          </p:nvPr>
        </p:nvSpPr>
        <p:spPr>
          <a:xfrm>
            <a:off x="971368" y="2711395"/>
            <a:ext cx="4114801" cy="3465568"/>
          </a:xfrm>
        </p:spPr>
        <p:txBody>
          <a:bodyPr>
            <a:normAutofit fontScale="92500" lnSpcReduction="10000"/>
          </a:bodyPr>
          <a:lstStyle/>
          <a:p>
            <a:r>
              <a:rPr lang="en-US" sz="2000" dirty="0"/>
              <a:t>From the Wright Brothers First Flight to the modern era of sustainable aviation fuel, aviation is returning to its roots to solve a climate crisis. </a:t>
            </a:r>
          </a:p>
          <a:p>
            <a:r>
              <a:rPr lang="en-US" sz="2000" dirty="0"/>
              <a:t>Singapore leads the transition to Sustainable Aviation Fuel by announcing a fuel levy from October 1, 2026. </a:t>
            </a:r>
          </a:p>
          <a:p>
            <a:r>
              <a:rPr lang="en-US" sz="2000" dirty="0"/>
              <a:t>SAF derives from renewable waste oils and agricultural residue, offering up to 80% reduction in carbon cycle emissions. </a:t>
            </a:r>
          </a:p>
        </p:txBody>
      </p:sp>
      <p:pic>
        <p:nvPicPr>
          <p:cNvPr id="14" name="Content Placeholder 13">
            <a:extLst>
              <a:ext uri="{FF2B5EF4-FFF2-40B4-BE49-F238E27FC236}">
                <a16:creationId xmlns:a16="http://schemas.microsoft.com/office/drawing/2014/main" id="{EE1BD28A-7599-E438-7A40-4BA8BC902683}"/>
              </a:ext>
            </a:extLst>
          </p:cNvPr>
          <p:cNvPicPr>
            <a:picLocks noChangeAspect="1"/>
          </p:cNvPicPr>
          <p:nvPr/>
        </p:nvPicPr>
        <p:blipFill>
          <a:blip r:embed="rId3"/>
          <a:srcRect r="8931" b="-1"/>
          <a:stretch>
            <a:fillRect/>
          </a:stretch>
        </p:blipFill>
        <p:spPr>
          <a:xfrm>
            <a:off x="8452968" y="3681465"/>
            <a:ext cx="3747932" cy="3176541"/>
          </a:xfrm>
          <a:custGeom>
            <a:avLst/>
            <a:gdLst/>
            <a:ahLst/>
            <a:cxnLst/>
            <a:rect l="l" t="t" r="r" b="b"/>
            <a:pathLst>
              <a:path w="3747932" h="3176541">
                <a:moveTo>
                  <a:pt x="3239865" y="21"/>
                </a:moveTo>
                <a:cubicBezTo>
                  <a:pt x="3261821" y="112"/>
                  <a:pt x="3278837" y="498"/>
                  <a:pt x="3290337" y="938"/>
                </a:cubicBezTo>
                <a:cubicBezTo>
                  <a:pt x="3401766" y="5376"/>
                  <a:pt x="3510165" y="23128"/>
                  <a:pt x="3616543" y="49449"/>
                </a:cubicBezTo>
                <a:lnTo>
                  <a:pt x="3747932" y="87091"/>
                </a:lnTo>
                <a:lnTo>
                  <a:pt x="3747932" y="3176541"/>
                </a:lnTo>
                <a:lnTo>
                  <a:pt x="401358" y="3176541"/>
                </a:lnTo>
                <a:lnTo>
                  <a:pt x="398780" y="3136258"/>
                </a:lnTo>
                <a:cubicBezTo>
                  <a:pt x="400956" y="3079023"/>
                  <a:pt x="437945" y="3052703"/>
                  <a:pt x="483325" y="3030665"/>
                </a:cubicBezTo>
                <a:cubicBezTo>
                  <a:pt x="498866" y="3023015"/>
                  <a:pt x="520932" y="3023320"/>
                  <a:pt x="526840" y="2999447"/>
                </a:cubicBezTo>
                <a:cubicBezTo>
                  <a:pt x="501352" y="2976798"/>
                  <a:pt x="470270" y="2995161"/>
                  <a:pt x="442916" y="2988735"/>
                </a:cubicBezTo>
                <a:cubicBezTo>
                  <a:pt x="420228" y="2983533"/>
                  <a:pt x="382618" y="2986286"/>
                  <a:pt x="413701" y="2944662"/>
                </a:cubicBezTo>
                <a:cubicBezTo>
                  <a:pt x="422716" y="2932726"/>
                  <a:pt x="412147" y="2923542"/>
                  <a:pt x="400645" y="2922625"/>
                </a:cubicBezTo>
                <a:cubicBezTo>
                  <a:pt x="308644" y="2913137"/>
                  <a:pt x="350915" y="2828968"/>
                  <a:pt x="321386" y="2784590"/>
                </a:cubicBezTo>
                <a:cubicBezTo>
                  <a:pt x="313307" y="2772348"/>
                  <a:pt x="322010" y="2751230"/>
                  <a:pt x="334753" y="2746027"/>
                </a:cubicBezTo>
                <a:cubicBezTo>
                  <a:pt x="416187" y="2711746"/>
                  <a:pt x="427377" y="2630027"/>
                  <a:pt x="466852" y="2559632"/>
                </a:cubicBezTo>
                <a:cubicBezTo>
                  <a:pt x="423957" y="2531782"/>
                  <a:pt x="372673" y="2525661"/>
                  <a:pt x="326361" y="2507602"/>
                </a:cubicBezTo>
                <a:cubicBezTo>
                  <a:pt x="278183" y="2488626"/>
                  <a:pt x="278183" y="2474547"/>
                  <a:pt x="317968" y="2419457"/>
                </a:cubicBezTo>
                <a:cubicBezTo>
                  <a:pt x="214465" y="2407519"/>
                  <a:pt x="214465" y="2407519"/>
                  <a:pt x="246479" y="2320903"/>
                </a:cubicBezTo>
                <a:cubicBezTo>
                  <a:pt x="159758" y="2312945"/>
                  <a:pt x="102570" y="2271933"/>
                  <a:pt x="89205" y="2182255"/>
                </a:cubicBezTo>
                <a:cubicBezTo>
                  <a:pt x="82677" y="2138795"/>
                  <a:pt x="43514" y="2118290"/>
                  <a:pt x="0" y="2089213"/>
                </a:cubicBezTo>
                <a:cubicBezTo>
                  <a:pt x="54081" y="2061053"/>
                  <a:pt x="90759" y="2002290"/>
                  <a:pt x="153855" y="2064423"/>
                </a:cubicBezTo>
                <a:cubicBezTo>
                  <a:pt x="176855" y="2087070"/>
                  <a:pt x="174683" y="2058300"/>
                  <a:pt x="177788" y="2050037"/>
                </a:cubicBezTo>
                <a:cubicBezTo>
                  <a:pt x="185247" y="2029838"/>
                  <a:pt x="169707" y="2016369"/>
                  <a:pt x="159450" y="2001067"/>
                </a:cubicBezTo>
                <a:cubicBezTo>
                  <a:pt x="149504" y="1985763"/>
                  <a:pt x="137691" y="1969543"/>
                  <a:pt x="134895" y="1952400"/>
                </a:cubicBezTo>
                <a:cubicBezTo>
                  <a:pt x="133031" y="1940465"/>
                  <a:pt x="142044" y="1923021"/>
                  <a:pt x="151990" y="1914144"/>
                </a:cubicBezTo>
                <a:cubicBezTo>
                  <a:pt x="204209" y="1867316"/>
                  <a:pt x="173127" y="1762030"/>
                  <a:pt x="271969" y="1748562"/>
                </a:cubicBezTo>
                <a:cubicBezTo>
                  <a:pt x="316415" y="1742443"/>
                  <a:pt x="337860" y="1703878"/>
                  <a:pt x="370497" y="1682760"/>
                </a:cubicBezTo>
                <a:cubicBezTo>
                  <a:pt x="483946" y="1608999"/>
                  <a:pt x="559787" y="1514119"/>
                  <a:pt x="594908" y="1383735"/>
                </a:cubicBezTo>
                <a:cubicBezTo>
                  <a:pt x="604543" y="1347620"/>
                  <a:pt x="641532" y="1318542"/>
                  <a:pt x="665465" y="1286713"/>
                </a:cubicBezTo>
                <a:cubicBezTo>
                  <a:pt x="653963" y="1263452"/>
                  <a:pt x="591178" y="1313647"/>
                  <a:pt x="613246" y="1252435"/>
                </a:cubicBezTo>
                <a:cubicBezTo>
                  <a:pt x="630030" y="1206524"/>
                  <a:pt x="672925" y="1178060"/>
                  <a:pt x="713332" y="1150820"/>
                </a:cubicBezTo>
                <a:cubicBezTo>
                  <a:pt x="759333" y="1119908"/>
                  <a:pt x="810307" y="1095117"/>
                  <a:pt x="831133" y="1037883"/>
                </a:cubicBezTo>
                <a:cubicBezTo>
                  <a:pt x="835485" y="1025640"/>
                  <a:pt x="849470" y="1012785"/>
                  <a:pt x="861903" y="1007887"/>
                </a:cubicBezTo>
                <a:cubicBezTo>
                  <a:pt x="1469751" y="63584"/>
                  <a:pt x="2910527" y="-1353"/>
                  <a:pt x="3239865" y="21"/>
                </a:cubicBezTo>
                <a:close/>
              </a:path>
            </a:pathLst>
          </a:custGeom>
        </p:spPr>
      </p:pic>
      <p:pic>
        <p:nvPicPr>
          <p:cNvPr id="20" name="Picture 19">
            <a:extLst>
              <a:ext uri="{FF2B5EF4-FFF2-40B4-BE49-F238E27FC236}">
                <a16:creationId xmlns:a16="http://schemas.microsoft.com/office/drawing/2014/main" id="{BA8EA618-164A-8D72-29F5-1E6F1BD05038}"/>
              </a:ext>
            </a:extLst>
          </p:cNvPr>
          <p:cNvPicPr>
            <a:picLocks noChangeAspect="1"/>
          </p:cNvPicPr>
          <p:nvPr/>
        </p:nvPicPr>
        <p:blipFill>
          <a:blip r:embed="rId4"/>
          <a:srcRect l="32040" r="1556" b="2"/>
          <a:stretch>
            <a:fillRect/>
          </a:stretch>
        </p:blipFill>
        <p:spPr>
          <a:xfrm>
            <a:off x="5398276" y="2457970"/>
            <a:ext cx="3458367" cy="3476265"/>
          </a:xfrm>
          <a:custGeom>
            <a:avLst/>
            <a:gdLst/>
            <a:ahLst/>
            <a:cxnLst/>
            <a:rect l="l" t="t" r="r" b="b"/>
            <a:pathLst>
              <a:path w="3458367" h="3476265">
                <a:moveTo>
                  <a:pt x="549716" y="15"/>
                </a:moveTo>
                <a:cubicBezTo>
                  <a:pt x="557611" y="271"/>
                  <a:pt x="565778" y="3856"/>
                  <a:pt x="573176" y="4995"/>
                </a:cubicBezTo>
                <a:cubicBezTo>
                  <a:pt x="736504" y="30493"/>
                  <a:pt x="899830" y="58040"/>
                  <a:pt x="1063336" y="82398"/>
                </a:cubicBezTo>
                <a:cubicBezTo>
                  <a:pt x="1216195" y="105163"/>
                  <a:pt x="1370136" y="110398"/>
                  <a:pt x="1523717" y="122237"/>
                </a:cubicBezTo>
                <a:cubicBezTo>
                  <a:pt x="1709602" y="136580"/>
                  <a:pt x="1895127" y="156841"/>
                  <a:pt x="2079929" y="188711"/>
                </a:cubicBezTo>
                <a:cubicBezTo>
                  <a:pt x="2208244" y="211023"/>
                  <a:pt x="2337823" y="226502"/>
                  <a:pt x="2467943" y="208745"/>
                </a:cubicBezTo>
                <a:cubicBezTo>
                  <a:pt x="2474439" y="207834"/>
                  <a:pt x="2481839" y="204876"/>
                  <a:pt x="2487253" y="207834"/>
                </a:cubicBezTo>
                <a:cubicBezTo>
                  <a:pt x="2550419" y="241073"/>
                  <a:pt x="2619357" y="217168"/>
                  <a:pt x="2684869" y="238113"/>
                </a:cubicBezTo>
                <a:cubicBezTo>
                  <a:pt x="2668085" y="318930"/>
                  <a:pt x="2596077" y="312327"/>
                  <a:pt x="2555471" y="368331"/>
                </a:cubicBezTo>
                <a:cubicBezTo>
                  <a:pt x="2621704" y="390639"/>
                  <a:pt x="2681259" y="413178"/>
                  <a:pt x="2741717" y="430023"/>
                </a:cubicBezTo>
                <a:cubicBezTo>
                  <a:pt x="2805785" y="447780"/>
                  <a:pt x="2860106" y="495816"/>
                  <a:pt x="2922728" y="517216"/>
                </a:cubicBezTo>
                <a:cubicBezTo>
                  <a:pt x="2936085" y="521769"/>
                  <a:pt x="2952146" y="537704"/>
                  <a:pt x="2956838" y="553184"/>
                </a:cubicBezTo>
                <a:cubicBezTo>
                  <a:pt x="2971997" y="603269"/>
                  <a:pt x="3274647" y="743732"/>
                  <a:pt x="3238914" y="788350"/>
                </a:cubicBezTo>
                <a:cubicBezTo>
                  <a:pt x="3224116" y="806791"/>
                  <a:pt x="3204986" y="819994"/>
                  <a:pt x="3184953" y="838207"/>
                </a:cubicBezTo>
                <a:cubicBezTo>
                  <a:pt x="3215093" y="872582"/>
                  <a:pt x="3249020" y="887608"/>
                  <a:pt x="3285115" y="897852"/>
                </a:cubicBezTo>
                <a:cubicBezTo>
                  <a:pt x="3295944" y="901039"/>
                  <a:pt x="3306591" y="907413"/>
                  <a:pt x="3307674" y="922894"/>
                </a:cubicBezTo>
                <a:cubicBezTo>
                  <a:pt x="3308757" y="939056"/>
                  <a:pt x="3297748" y="945429"/>
                  <a:pt x="3288544" y="952944"/>
                </a:cubicBezTo>
                <a:cubicBezTo>
                  <a:pt x="3275731" y="963415"/>
                  <a:pt x="3263278" y="972523"/>
                  <a:pt x="3247036" y="973888"/>
                </a:cubicBezTo>
                <a:cubicBezTo>
                  <a:pt x="3220325" y="975937"/>
                  <a:pt x="3207513" y="1005076"/>
                  <a:pt x="3191993" y="1026930"/>
                </a:cubicBezTo>
                <a:cubicBezTo>
                  <a:pt x="3183330" y="1039224"/>
                  <a:pt x="3178998" y="1064037"/>
                  <a:pt x="3194157" y="1068363"/>
                </a:cubicBezTo>
                <a:cubicBezTo>
                  <a:pt x="3230613" y="1078837"/>
                  <a:pt x="3227725" y="1109114"/>
                  <a:pt x="3226824" y="1143489"/>
                </a:cubicBezTo>
                <a:cubicBezTo>
                  <a:pt x="3225560" y="1186061"/>
                  <a:pt x="3204083" y="1205638"/>
                  <a:pt x="3177734" y="1222030"/>
                </a:cubicBezTo>
                <a:cubicBezTo>
                  <a:pt x="3168711" y="1227720"/>
                  <a:pt x="3155898" y="1227493"/>
                  <a:pt x="3152469" y="1245250"/>
                </a:cubicBezTo>
                <a:cubicBezTo>
                  <a:pt x="3167267" y="1262097"/>
                  <a:pt x="3185314" y="1248439"/>
                  <a:pt x="3201197" y="1253218"/>
                </a:cubicBezTo>
                <a:cubicBezTo>
                  <a:pt x="3214370" y="1257088"/>
                  <a:pt x="3236208" y="1255040"/>
                  <a:pt x="3218160" y="1286000"/>
                </a:cubicBezTo>
                <a:cubicBezTo>
                  <a:pt x="3212926" y="1294878"/>
                  <a:pt x="3219062" y="1301709"/>
                  <a:pt x="3225741" y="1302392"/>
                </a:cubicBezTo>
                <a:cubicBezTo>
                  <a:pt x="3279159" y="1309449"/>
                  <a:pt x="3254615" y="1372054"/>
                  <a:pt x="3271761" y="1405063"/>
                </a:cubicBezTo>
                <a:cubicBezTo>
                  <a:pt x="3276452" y="1414169"/>
                  <a:pt x="3271399" y="1429877"/>
                  <a:pt x="3263999" y="1433747"/>
                </a:cubicBezTo>
                <a:cubicBezTo>
                  <a:pt x="3216716" y="1459245"/>
                  <a:pt x="3210220" y="1520028"/>
                  <a:pt x="3187299" y="1572389"/>
                </a:cubicBezTo>
                <a:cubicBezTo>
                  <a:pt x="3212205" y="1593104"/>
                  <a:pt x="3241982" y="1597657"/>
                  <a:pt x="3268872" y="1611089"/>
                </a:cubicBezTo>
                <a:cubicBezTo>
                  <a:pt x="3296846" y="1625204"/>
                  <a:pt x="3296846" y="1635676"/>
                  <a:pt x="3273746" y="1676653"/>
                </a:cubicBezTo>
                <a:cubicBezTo>
                  <a:pt x="3333842" y="1685532"/>
                  <a:pt x="3333842" y="1685532"/>
                  <a:pt x="3315254" y="1749957"/>
                </a:cubicBezTo>
                <a:cubicBezTo>
                  <a:pt x="3365607" y="1755877"/>
                  <a:pt x="3398812" y="1786382"/>
                  <a:pt x="3406572" y="1853085"/>
                </a:cubicBezTo>
                <a:cubicBezTo>
                  <a:pt x="3410362" y="1885411"/>
                  <a:pt x="3433101" y="1900663"/>
                  <a:pt x="3458367" y="1922291"/>
                </a:cubicBezTo>
                <a:cubicBezTo>
                  <a:pt x="3426966" y="1943236"/>
                  <a:pt x="3405669" y="1986945"/>
                  <a:pt x="3369034" y="1940730"/>
                </a:cubicBezTo>
                <a:cubicBezTo>
                  <a:pt x="3355680" y="1923885"/>
                  <a:pt x="3356941" y="1945284"/>
                  <a:pt x="3355138" y="1951430"/>
                </a:cubicBezTo>
                <a:cubicBezTo>
                  <a:pt x="3350807" y="1966455"/>
                  <a:pt x="3359830" y="1976472"/>
                  <a:pt x="3365786" y="1987854"/>
                </a:cubicBezTo>
                <a:cubicBezTo>
                  <a:pt x="3371561" y="1999237"/>
                  <a:pt x="3378420" y="2011302"/>
                  <a:pt x="3380043" y="2024054"/>
                </a:cubicBezTo>
                <a:cubicBezTo>
                  <a:pt x="3381125" y="2032931"/>
                  <a:pt x="3375892" y="2045905"/>
                  <a:pt x="3370117" y="2052509"/>
                </a:cubicBezTo>
                <a:cubicBezTo>
                  <a:pt x="3339797" y="2087340"/>
                  <a:pt x="3357844" y="2165652"/>
                  <a:pt x="3300454" y="2175670"/>
                </a:cubicBezTo>
                <a:cubicBezTo>
                  <a:pt x="3274647" y="2180221"/>
                  <a:pt x="3262195" y="2208906"/>
                  <a:pt x="3243246" y="2224614"/>
                </a:cubicBezTo>
                <a:cubicBezTo>
                  <a:pt x="3177374" y="2279478"/>
                  <a:pt x="3133338" y="2350051"/>
                  <a:pt x="3112946" y="2447031"/>
                </a:cubicBezTo>
                <a:cubicBezTo>
                  <a:pt x="3107352" y="2473894"/>
                  <a:pt x="3085875" y="2495522"/>
                  <a:pt x="3071979" y="2519197"/>
                </a:cubicBezTo>
                <a:cubicBezTo>
                  <a:pt x="3078657" y="2536499"/>
                  <a:pt x="3115112" y="2499164"/>
                  <a:pt x="3102298" y="2544694"/>
                </a:cubicBezTo>
                <a:cubicBezTo>
                  <a:pt x="3092553" y="2578843"/>
                  <a:pt x="3067647" y="2600014"/>
                  <a:pt x="3044185" y="2620276"/>
                </a:cubicBezTo>
                <a:cubicBezTo>
                  <a:pt x="3017476" y="2643268"/>
                  <a:pt x="2987879" y="2661708"/>
                  <a:pt x="2975787" y="2704279"/>
                </a:cubicBezTo>
                <a:cubicBezTo>
                  <a:pt x="2973260" y="2713386"/>
                  <a:pt x="2965140" y="2722947"/>
                  <a:pt x="2957921" y="2726591"/>
                </a:cubicBezTo>
                <a:cubicBezTo>
                  <a:pt x="2581458" y="3475797"/>
                  <a:pt x="1654740" y="3480805"/>
                  <a:pt x="1547901" y="3475568"/>
                </a:cubicBezTo>
                <a:cubicBezTo>
                  <a:pt x="1418503" y="3468966"/>
                  <a:pt x="1296143" y="3422753"/>
                  <a:pt x="1176132" y="3365156"/>
                </a:cubicBezTo>
                <a:cubicBezTo>
                  <a:pt x="1125418" y="3340797"/>
                  <a:pt x="1078316" y="3306195"/>
                  <a:pt x="1029045" y="3279332"/>
                </a:cubicBezTo>
                <a:cubicBezTo>
                  <a:pt x="961009" y="3242223"/>
                  <a:pt x="908492" y="3171424"/>
                  <a:pt x="840634" y="3141601"/>
                </a:cubicBezTo>
                <a:cubicBezTo>
                  <a:pt x="770793" y="3110867"/>
                  <a:pt x="711057" y="3054638"/>
                  <a:pt x="639229" y="3030734"/>
                </a:cubicBezTo>
                <a:cubicBezTo>
                  <a:pt x="601330" y="3017985"/>
                  <a:pt x="564695" y="2994993"/>
                  <a:pt x="570649" y="2929200"/>
                </a:cubicBezTo>
                <a:cubicBezTo>
                  <a:pt x="572274" y="2910532"/>
                  <a:pt x="562349" y="2895282"/>
                  <a:pt x="546647" y="2900745"/>
                </a:cubicBezTo>
                <a:cubicBezTo>
                  <a:pt x="516690" y="2910989"/>
                  <a:pt x="503154" y="2883898"/>
                  <a:pt x="486550" y="2863636"/>
                </a:cubicBezTo>
                <a:cubicBezTo>
                  <a:pt x="456953" y="2827667"/>
                  <a:pt x="428801" y="2789422"/>
                  <a:pt x="381697" y="2783503"/>
                </a:cubicBezTo>
                <a:cubicBezTo>
                  <a:pt x="390720" y="2755272"/>
                  <a:pt x="406060" y="2759371"/>
                  <a:pt x="420137" y="2765290"/>
                </a:cubicBezTo>
                <a:cubicBezTo>
                  <a:pt x="457133" y="2780772"/>
                  <a:pt x="493769" y="2798300"/>
                  <a:pt x="530765" y="2813781"/>
                </a:cubicBezTo>
                <a:cubicBezTo>
                  <a:pt x="554948" y="2823799"/>
                  <a:pt x="578952" y="2837912"/>
                  <a:pt x="611257" y="2826755"/>
                </a:cubicBezTo>
                <a:cubicBezTo>
                  <a:pt x="583463" y="2769843"/>
                  <a:pt x="536180" y="2759598"/>
                  <a:pt x="497920" y="2742071"/>
                </a:cubicBezTo>
                <a:cubicBezTo>
                  <a:pt x="450096" y="2719988"/>
                  <a:pt x="421942" y="2678326"/>
                  <a:pt x="388193" y="2631885"/>
                </a:cubicBezTo>
                <a:cubicBezTo>
                  <a:pt x="423386" y="2620730"/>
                  <a:pt x="445223" y="2654879"/>
                  <a:pt x="472834" y="2653056"/>
                </a:cubicBezTo>
                <a:cubicBezTo>
                  <a:pt x="474279" y="2647140"/>
                  <a:pt x="476804" y="2638488"/>
                  <a:pt x="476444" y="2638259"/>
                </a:cubicBezTo>
                <a:cubicBezTo>
                  <a:pt x="431326" y="2612763"/>
                  <a:pt x="410211" y="2564956"/>
                  <a:pt x="403173" y="2507131"/>
                </a:cubicBezTo>
                <a:cubicBezTo>
                  <a:pt x="399563" y="2477310"/>
                  <a:pt x="383140" y="2467976"/>
                  <a:pt x="366897" y="2454316"/>
                </a:cubicBezTo>
                <a:cubicBezTo>
                  <a:pt x="310230" y="2405826"/>
                  <a:pt x="250314" y="2361890"/>
                  <a:pt x="203752" y="2295188"/>
                </a:cubicBezTo>
                <a:cubicBezTo>
                  <a:pt x="257532" y="2304066"/>
                  <a:pt x="300665" y="2347547"/>
                  <a:pt x="358597" y="2366215"/>
                </a:cubicBezTo>
                <a:cubicBezTo>
                  <a:pt x="312577" y="2292910"/>
                  <a:pt x="253020" y="2255803"/>
                  <a:pt x="198698" y="2211409"/>
                </a:cubicBezTo>
                <a:cubicBezTo>
                  <a:pt x="173974" y="2191149"/>
                  <a:pt x="151055" y="2165197"/>
                  <a:pt x="121097" y="2154269"/>
                </a:cubicBezTo>
                <a:cubicBezTo>
                  <a:pt x="110448" y="2150400"/>
                  <a:pt x="92943" y="2142204"/>
                  <a:pt x="101425" y="2120577"/>
                </a:cubicBezTo>
                <a:cubicBezTo>
                  <a:pt x="108643" y="2102593"/>
                  <a:pt x="122900" y="2108055"/>
                  <a:pt x="135895" y="2113292"/>
                </a:cubicBezTo>
                <a:cubicBezTo>
                  <a:pt x="167116" y="2126269"/>
                  <a:pt x="199421" y="2126495"/>
                  <a:pt x="241652" y="2126269"/>
                </a:cubicBezTo>
                <a:cubicBezTo>
                  <a:pt x="206279" y="2066851"/>
                  <a:pt x="141489" y="2084608"/>
                  <a:pt x="111170" y="2022231"/>
                </a:cubicBezTo>
                <a:cubicBezTo>
                  <a:pt x="149069" y="2011302"/>
                  <a:pt x="178305" y="2033841"/>
                  <a:pt x="208987" y="2038166"/>
                </a:cubicBezTo>
                <a:cubicBezTo>
                  <a:pt x="236777" y="2042036"/>
                  <a:pt x="243636" y="2031565"/>
                  <a:pt x="237139" y="1997188"/>
                </a:cubicBezTo>
                <a:cubicBezTo>
                  <a:pt x="227034" y="1943690"/>
                  <a:pt x="242193" y="1916371"/>
                  <a:pt x="282618" y="1930941"/>
                </a:cubicBezTo>
                <a:cubicBezTo>
                  <a:pt x="320155" y="1944601"/>
                  <a:pt x="324125" y="1924568"/>
                  <a:pt x="314019" y="1894062"/>
                </a:cubicBezTo>
                <a:cubicBezTo>
                  <a:pt x="299582" y="1849671"/>
                  <a:pt x="316004" y="1815295"/>
                  <a:pt x="327194" y="1777960"/>
                </a:cubicBezTo>
                <a:cubicBezTo>
                  <a:pt x="344339" y="1721045"/>
                  <a:pt x="337121" y="1693272"/>
                  <a:pt x="300123" y="1650929"/>
                </a:cubicBezTo>
                <a:cubicBezTo>
                  <a:pt x="279370" y="1627251"/>
                  <a:pt x="256992" y="1607219"/>
                  <a:pt x="226852" y="1586731"/>
                </a:cubicBezTo>
                <a:cubicBezTo>
                  <a:pt x="296334" y="1575576"/>
                  <a:pt x="223423" y="1538013"/>
                  <a:pt x="247968" y="1514564"/>
                </a:cubicBezTo>
                <a:cubicBezTo>
                  <a:pt x="297056" y="1505003"/>
                  <a:pt x="337121" y="1579673"/>
                  <a:pt x="403895" y="1558274"/>
                </a:cubicBezTo>
                <a:cubicBezTo>
                  <a:pt x="321420" y="1493619"/>
                  <a:pt x="230281" y="1472448"/>
                  <a:pt x="170546" y="1386396"/>
                </a:cubicBezTo>
                <a:cubicBezTo>
                  <a:pt x="184261" y="1366817"/>
                  <a:pt x="197977" y="1385030"/>
                  <a:pt x="209707" y="1377746"/>
                </a:cubicBezTo>
                <a:cubicBezTo>
                  <a:pt x="209346" y="1373192"/>
                  <a:pt x="210250" y="1366362"/>
                  <a:pt x="208083" y="1364314"/>
                </a:cubicBezTo>
                <a:cubicBezTo>
                  <a:pt x="163508" y="1317416"/>
                  <a:pt x="162784" y="1316279"/>
                  <a:pt x="210610" y="1281675"/>
                </a:cubicBezTo>
                <a:cubicBezTo>
                  <a:pt x="227394" y="1269609"/>
                  <a:pt x="225950" y="1258909"/>
                  <a:pt x="217108" y="1243657"/>
                </a:cubicBezTo>
                <a:cubicBezTo>
                  <a:pt x="210790" y="1232957"/>
                  <a:pt x="203211" y="1223395"/>
                  <a:pt x="206820" y="1199947"/>
                </a:cubicBezTo>
                <a:cubicBezTo>
                  <a:pt x="232988" y="1229998"/>
                  <a:pt x="359499" y="1220208"/>
                  <a:pt x="381877" y="1217021"/>
                </a:cubicBezTo>
                <a:cubicBezTo>
                  <a:pt x="406963" y="1213607"/>
                  <a:pt x="431688" y="1199037"/>
                  <a:pt x="458035" y="1207003"/>
                </a:cubicBezTo>
                <a:cubicBezTo>
                  <a:pt x="479150" y="1213381"/>
                  <a:pt x="576966" y="1275073"/>
                  <a:pt x="590863" y="1204273"/>
                </a:cubicBezTo>
                <a:cubicBezTo>
                  <a:pt x="591585" y="1200858"/>
                  <a:pt x="631107" y="1208826"/>
                  <a:pt x="652403" y="1212696"/>
                </a:cubicBezTo>
                <a:cubicBezTo>
                  <a:pt x="671172" y="1215883"/>
                  <a:pt x="692288" y="1229998"/>
                  <a:pt x="704920" y="1201769"/>
                </a:cubicBezTo>
                <a:cubicBezTo>
                  <a:pt x="712320" y="1185150"/>
                  <a:pt x="681820" y="1153051"/>
                  <a:pt x="654569" y="1150320"/>
                </a:cubicBezTo>
                <a:cubicBezTo>
                  <a:pt x="630926" y="1147814"/>
                  <a:pt x="606202" y="1144172"/>
                  <a:pt x="583643" y="1151001"/>
                </a:cubicBezTo>
                <a:cubicBezTo>
                  <a:pt x="555852" y="1159198"/>
                  <a:pt x="540873" y="1145995"/>
                  <a:pt x="533111" y="1117538"/>
                </a:cubicBezTo>
                <a:cubicBezTo>
                  <a:pt x="524450" y="1086122"/>
                  <a:pt x="507845" y="1071550"/>
                  <a:pt x="484926" y="1056980"/>
                </a:cubicBezTo>
                <a:cubicBezTo>
                  <a:pt x="429340" y="1021696"/>
                  <a:pt x="375921" y="980946"/>
                  <a:pt x="314922" y="960456"/>
                </a:cubicBezTo>
                <a:cubicBezTo>
                  <a:pt x="302830" y="956358"/>
                  <a:pt x="289476" y="950894"/>
                  <a:pt x="283881" y="923805"/>
                </a:cubicBezTo>
                <a:cubicBezTo>
                  <a:pt x="449013" y="964326"/>
                  <a:pt x="599526" y="1069958"/>
                  <a:pt x="769890" y="1063811"/>
                </a:cubicBezTo>
                <a:cubicBezTo>
                  <a:pt x="723329" y="1030346"/>
                  <a:pt x="669369" y="1028524"/>
                  <a:pt x="619738" y="1005076"/>
                </a:cubicBezTo>
                <a:cubicBezTo>
                  <a:pt x="654930" y="987546"/>
                  <a:pt x="687956" y="1005759"/>
                  <a:pt x="721344" y="1015777"/>
                </a:cubicBezTo>
                <a:cubicBezTo>
                  <a:pt x="749317" y="1023970"/>
                  <a:pt x="774583" y="1025337"/>
                  <a:pt x="777650" y="976393"/>
                </a:cubicBezTo>
                <a:cubicBezTo>
                  <a:pt x="776566" y="973205"/>
                  <a:pt x="776747" y="969107"/>
                  <a:pt x="776929" y="965238"/>
                </a:cubicBezTo>
                <a:cubicBezTo>
                  <a:pt x="767542" y="944976"/>
                  <a:pt x="752926" y="934504"/>
                  <a:pt x="735601" y="928584"/>
                </a:cubicBezTo>
                <a:cubicBezTo>
                  <a:pt x="725133" y="924942"/>
                  <a:pt x="711237" y="919478"/>
                  <a:pt x="711416" y="904909"/>
                </a:cubicBezTo>
                <a:cubicBezTo>
                  <a:pt x="711958" y="850955"/>
                  <a:pt x="678571" y="835246"/>
                  <a:pt x="645185" y="819539"/>
                </a:cubicBezTo>
                <a:cubicBezTo>
                  <a:pt x="663773" y="792676"/>
                  <a:pt x="678391" y="812481"/>
                  <a:pt x="692468" y="810433"/>
                </a:cubicBezTo>
                <a:cubicBezTo>
                  <a:pt x="701672" y="809067"/>
                  <a:pt x="709973" y="806563"/>
                  <a:pt x="709973" y="792676"/>
                </a:cubicBezTo>
                <a:cubicBezTo>
                  <a:pt x="710154" y="781065"/>
                  <a:pt x="705822" y="767861"/>
                  <a:pt x="696799" y="767635"/>
                </a:cubicBezTo>
                <a:cubicBezTo>
                  <a:pt x="640312" y="765585"/>
                  <a:pt x="609090" y="690914"/>
                  <a:pt x="550437" y="690687"/>
                </a:cubicBezTo>
                <a:cubicBezTo>
                  <a:pt x="515425" y="690687"/>
                  <a:pt x="568666" y="648572"/>
                  <a:pt x="539068" y="631042"/>
                </a:cubicBezTo>
                <a:cubicBezTo>
                  <a:pt x="532570" y="627171"/>
                  <a:pt x="556032" y="621254"/>
                  <a:pt x="566500" y="622164"/>
                </a:cubicBezTo>
                <a:cubicBezTo>
                  <a:pt x="576786" y="623074"/>
                  <a:pt x="585990" y="634229"/>
                  <a:pt x="598443" y="626261"/>
                </a:cubicBezTo>
                <a:cubicBezTo>
                  <a:pt x="605300" y="597806"/>
                  <a:pt x="587615" y="587332"/>
                  <a:pt x="572996" y="579365"/>
                </a:cubicBezTo>
                <a:cubicBezTo>
                  <a:pt x="539247" y="560925"/>
                  <a:pt x="506402" y="538615"/>
                  <a:pt x="469405" y="532013"/>
                </a:cubicBezTo>
                <a:cubicBezTo>
                  <a:pt x="456232" y="529737"/>
                  <a:pt x="488355" y="499231"/>
                  <a:pt x="494671" y="488532"/>
                </a:cubicBezTo>
                <a:cubicBezTo>
                  <a:pt x="345782" y="376071"/>
                  <a:pt x="166756" y="381762"/>
                  <a:pt x="0" y="290928"/>
                </a:cubicBezTo>
                <a:cubicBezTo>
                  <a:pt x="36817" y="273173"/>
                  <a:pt x="63887" y="286148"/>
                  <a:pt x="88973" y="288880"/>
                </a:cubicBezTo>
                <a:cubicBezTo>
                  <a:pt x="151595" y="295708"/>
                  <a:pt x="213498" y="309822"/>
                  <a:pt x="275940" y="318246"/>
                </a:cubicBezTo>
                <a:cubicBezTo>
                  <a:pt x="306620" y="322344"/>
                  <a:pt x="335134" y="337824"/>
                  <a:pt x="369424" y="313239"/>
                </a:cubicBezTo>
                <a:cubicBezTo>
                  <a:pt x="392343" y="296847"/>
                  <a:pt x="428980" y="314604"/>
                  <a:pt x="457133" y="329174"/>
                </a:cubicBezTo>
                <a:cubicBezTo>
                  <a:pt x="480414" y="341238"/>
                  <a:pt x="502612" y="344425"/>
                  <a:pt x="533474" y="329174"/>
                </a:cubicBezTo>
                <a:cubicBezTo>
                  <a:pt x="505501" y="319841"/>
                  <a:pt x="484023" y="311645"/>
                  <a:pt x="462006" y="305953"/>
                </a:cubicBezTo>
                <a:cubicBezTo>
                  <a:pt x="444501" y="301400"/>
                  <a:pt x="486189" y="282960"/>
                  <a:pt x="507484" y="285237"/>
                </a:cubicBezTo>
                <a:cubicBezTo>
                  <a:pt x="537263" y="288423"/>
                  <a:pt x="520479" y="276586"/>
                  <a:pt x="515425" y="260195"/>
                </a:cubicBezTo>
                <a:cubicBezTo>
                  <a:pt x="510012" y="242665"/>
                  <a:pt x="526074" y="237203"/>
                  <a:pt x="536180" y="240844"/>
                </a:cubicBezTo>
                <a:cubicBezTo>
                  <a:pt x="574980" y="255187"/>
                  <a:pt x="613602" y="229917"/>
                  <a:pt x="653668" y="250407"/>
                </a:cubicBezTo>
                <a:cubicBezTo>
                  <a:pt x="643561" y="199867"/>
                  <a:pt x="621723" y="177784"/>
                  <a:pt x="576064" y="170726"/>
                </a:cubicBezTo>
                <a:cubicBezTo>
                  <a:pt x="558919" y="167996"/>
                  <a:pt x="541053" y="172093"/>
                  <a:pt x="526254" y="157522"/>
                </a:cubicBezTo>
                <a:cubicBezTo>
                  <a:pt x="517771" y="149101"/>
                  <a:pt x="508207" y="139084"/>
                  <a:pt x="514884" y="123603"/>
                </a:cubicBezTo>
                <a:cubicBezTo>
                  <a:pt x="519577" y="112674"/>
                  <a:pt x="529684" y="112674"/>
                  <a:pt x="537985" y="116318"/>
                </a:cubicBezTo>
                <a:cubicBezTo>
                  <a:pt x="575162" y="132483"/>
                  <a:pt x="613963" y="138400"/>
                  <a:pt x="652764" y="144320"/>
                </a:cubicBezTo>
                <a:cubicBezTo>
                  <a:pt x="658720" y="145230"/>
                  <a:pt x="665397" y="148191"/>
                  <a:pt x="672075" y="133164"/>
                </a:cubicBezTo>
                <a:cubicBezTo>
                  <a:pt x="599526" y="108805"/>
                  <a:pt x="530585" y="74202"/>
                  <a:pt x="456051" y="60770"/>
                </a:cubicBezTo>
                <a:cubicBezTo>
                  <a:pt x="457133" y="54397"/>
                  <a:pt x="458215" y="48022"/>
                  <a:pt x="459299" y="41649"/>
                </a:cubicBezTo>
                <a:cubicBezTo>
                  <a:pt x="517591" y="50753"/>
                  <a:pt x="575884" y="59859"/>
                  <a:pt x="649515" y="71243"/>
                </a:cubicBezTo>
                <a:cubicBezTo>
                  <a:pt x="604218" y="35045"/>
                  <a:pt x="561446" y="47111"/>
                  <a:pt x="527879" y="15013"/>
                </a:cubicBezTo>
                <a:cubicBezTo>
                  <a:pt x="534195" y="2833"/>
                  <a:pt x="541820" y="-241"/>
                  <a:pt x="549716" y="15"/>
                </a:cubicBezTo>
                <a:close/>
              </a:path>
            </a:pathLst>
          </a:custGeom>
        </p:spPr>
      </p:pic>
      <p:pic>
        <p:nvPicPr>
          <p:cNvPr id="17" name="Picture 16">
            <a:extLst>
              <a:ext uri="{FF2B5EF4-FFF2-40B4-BE49-F238E27FC236}">
                <a16:creationId xmlns:a16="http://schemas.microsoft.com/office/drawing/2014/main" id="{8BB228D7-E413-881E-6B9B-C2A0A0D2DD86}"/>
              </a:ext>
            </a:extLst>
          </p:cNvPr>
          <p:cNvPicPr>
            <a:picLocks noChangeAspect="1"/>
          </p:cNvPicPr>
          <p:nvPr/>
        </p:nvPicPr>
        <p:blipFill>
          <a:blip r:embed="rId5"/>
          <a:srcRect l="202" r="10116" b="-1"/>
          <a:stretch>
            <a:fillRect/>
          </a:stretch>
        </p:blipFill>
        <p:spPr>
          <a:xfrm>
            <a:off x="7621024" y="-5"/>
            <a:ext cx="4579876" cy="3536502"/>
          </a:xfrm>
          <a:custGeom>
            <a:avLst/>
            <a:gdLst/>
            <a:ahLst/>
            <a:cxnLst/>
            <a:rect l="l" t="t" r="r" b="b"/>
            <a:pathLst>
              <a:path w="4579876" h="3536502">
                <a:moveTo>
                  <a:pt x="457312" y="0"/>
                </a:moveTo>
                <a:lnTo>
                  <a:pt x="4579876" y="0"/>
                </a:lnTo>
                <a:lnTo>
                  <a:pt x="4579876" y="3057029"/>
                </a:lnTo>
                <a:lnTo>
                  <a:pt x="4508441" y="3086568"/>
                </a:lnTo>
                <a:cubicBezTo>
                  <a:pt x="4391572" y="3126663"/>
                  <a:pt x="4301124" y="3221848"/>
                  <a:pt x="4183947" y="3271738"/>
                </a:cubicBezTo>
                <a:cubicBezTo>
                  <a:pt x="4099090" y="3307854"/>
                  <a:pt x="4017967" y="3354374"/>
                  <a:pt x="3930625" y="3387123"/>
                </a:cubicBezTo>
                <a:cubicBezTo>
                  <a:pt x="3723932" y="3464557"/>
                  <a:pt x="3513195" y="3526689"/>
                  <a:pt x="3290337" y="3535564"/>
                </a:cubicBezTo>
                <a:cubicBezTo>
                  <a:pt x="3106332" y="3542605"/>
                  <a:pt x="1510274" y="3535872"/>
                  <a:pt x="861903" y="2528615"/>
                </a:cubicBezTo>
                <a:cubicBezTo>
                  <a:pt x="849470" y="2523717"/>
                  <a:pt x="835485" y="2510862"/>
                  <a:pt x="831133" y="2498619"/>
                </a:cubicBezTo>
                <a:cubicBezTo>
                  <a:pt x="810307" y="2441385"/>
                  <a:pt x="759333" y="2416594"/>
                  <a:pt x="713333" y="2385682"/>
                </a:cubicBezTo>
                <a:cubicBezTo>
                  <a:pt x="672925" y="2358442"/>
                  <a:pt x="630030" y="2329978"/>
                  <a:pt x="613246" y="2284067"/>
                </a:cubicBezTo>
                <a:cubicBezTo>
                  <a:pt x="591179" y="2222855"/>
                  <a:pt x="653963" y="2273050"/>
                  <a:pt x="665465" y="2249789"/>
                </a:cubicBezTo>
                <a:cubicBezTo>
                  <a:pt x="641532" y="2217960"/>
                  <a:pt x="604543" y="2188882"/>
                  <a:pt x="594908" y="2152767"/>
                </a:cubicBezTo>
                <a:cubicBezTo>
                  <a:pt x="559787" y="2022383"/>
                  <a:pt x="483946" y="1927503"/>
                  <a:pt x="370497" y="1853742"/>
                </a:cubicBezTo>
                <a:cubicBezTo>
                  <a:pt x="337861" y="1832624"/>
                  <a:pt x="316415" y="1794059"/>
                  <a:pt x="271969" y="1787940"/>
                </a:cubicBezTo>
                <a:cubicBezTo>
                  <a:pt x="173127" y="1774472"/>
                  <a:pt x="204209" y="1669186"/>
                  <a:pt x="151990" y="1622358"/>
                </a:cubicBezTo>
                <a:cubicBezTo>
                  <a:pt x="142044" y="1613481"/>
                  <a:pt x="133031" y="1596037"/>
                  <a:pt x="134895" y="1584102"/>
                </a:cubicBezTo>
                <a:cubicBezTo>
                  <a:pt x="137691" y="1566959"/>
                  <a:pt x="149504" y="1550739"/>
                  <a:pt x="159450" y="1535435"/>
                </a:cubicBezTo>
                <a:cubicBezTo>
                  <a:pt x="169708" y="1520133"/>
                  <a:pt x="185247" y="1506664"/>
                  <a:pt x="177788" y="1486465"/>
                </a:cubicBezTo>
                <a:cubicBezTo>
                  <a:pt x="174683" y="1478202"/>
                  <a:pt x="176855" y="1449432"/>
                  <a:pt x="153856" y="1472079"/>
                </a:cubicBezTo>
                <a:cubicBezTo>
                  <a:pt x="90760" y="1534212"/>
                  <a:pt x="54082" y="1475449"/>
                  <a:pt x="0" y="1447289"/>
                </a:cubicBezTo>
                <a:cubicBezTo>
                  <a:pt x="43515" y="1418212"/>
                  <a:pt x="82677" y="1397707"/>
                  <a:pt x="89205" y="1354247"/>
                </a:cubicBezTo>
                <a:cubicBezTo>
                  <a:pt x="102570" y="1264569"/>
                  <a:pt x="159758" y="1223557"/>
                  <a:pt x="246479" y="1215599"/>
                </a:cubicBezTo>
                <a:cubicBezTo>
                  <a:pt x="214465" y="1128983"/>
                  <a:pt x="214465" y="1128983"/>
                  <a:pt x="317968" y="1117045"/>
                </a:cubicBezTo>
                <a:cubicBezTo>
                  <a:pt x="278183" y="1061955"/>
                  <a:pt x="278183" y="1047876"/>
                  <a:pt x="326362" y="1028900"/>
                </a:cubicBezTo>
                <a:cubicBezTo>
                  <a:pt x="372673" y="1010841"/>
                  <a:pt x="423957" y="1004720"/>
                  <a:pt x="466852" y="976870"/>
                </a:cubicBezTo>
                <a:cubicBezTo>
                  <a:pt x="427377" y="906475"/>
                  <a:pt x="416188" y="824756"/>
                  <a:pt x="334754" y="790475"/>
                </a:cubicBezTo>
                <a:cubicBezTo>
                  <a:pt x="322010" y="785272"/>
                  <a:pt x="313307" y="764154"/>
                  <a:pt x="321386" y="751912"/>
                </a:cubicBezTo>
                <a:cubicBezTo>
                  <a:pt x="350915" y="707534"/>
                  <a:pt x="308644" y="623365"/>
                  <a:pt x="400645" y="613877"/>
                </a:cubicBezTo>
                <a:cubicBezTo>
                  <a:pt x="412147" y="612959"/>
                  <a:pt x="422716" y="603776"/>
                  <a:pt x="413701" y="591839"/>
                </a:cubicBezTo>
                <a:cubicBezTo>
                  <a:pt x="382618" y="550216"/>
                  <a:pt x="420228" y="552969"/>
                  <a:pt x="442917" y="547767"/>
                </a:cubicBezTo>
                <a:cubicBezTo>
                  <a:pt x="470271" y="541341"/>
                  <a:pt x="501353" y="559703"/>
                  <a:pt x="526840" y="537055"/>
                </a:cubicBezTo>
                <a:cubicBezTo>
                  <a:pt x="520932" y="513181"/>
                  <a:pt x="498866" y="513487"/>
                  <a:pt x="483325" y="505836"/>
                </a:cubicBezTo>
                <a:cubicBezTo>
                  <a:pt x="437946" y="483799"/>
                  <a:pt x="400956" y="457479"/>
                  <a:pt x="398780" y="400243"/>
                </a:cubicBezTo>
                <a:cubicBezTo>
                  <a:pt x="397229" y="354028"/>
                  <a:pt x="392255" y="313323"/>
                  <a:pt x="455041" y="299242"/>
                </a:cubicBezTo>
                <a:cubicBezTo>
                  <a:pt x="481149" y="293426"/>
                  <a:pt x="473687" y="260067"/>
                  <a:pt x="458769" y="243538"/>
                </a:cubicBezTo>
                <a:cubicBezTo>
                  <a:pt x="432038" y="214157"/>
                  <a:pt x="409972" y="174981"/>
                  <a:pt x="363969" y="172227"/>
                </a:cubicBezTo>
                <a:cubicBezTo>
                  <a:pt x="335995" y="170391"/>
                  <a:pt x="314549" y="158146"/>
                  <a:pt x="292481" y="144069"/>
                </a:cubicBezTo>
                <a:cubicBezTo>
                  <a:pt x="276630" y="133966"/>
                  <a:pt x="257670" y="125398"/>
                  <a:pt x="259534" y="103668"/>
                </a:cubicBezTo>
                <a:cubicBezTo>
                  <a:pt x="261399" y="82855"/>
                  <a:pt x="279736" y="74286"/>
                  <a:pt x="298387" y="70001"/>
                </a:cubicBezTo>
                <a:cubicBezTo>
                  <a:pt x="345011" y="59672"/>
                  <a:pt x="389535" y="45726"/>
                  <a:pt x="430782" y="19902"/>
                </a:cubicBezTo>
                <a:close/>
              </a:path>
            </a:pathLst>
          </a:custGeom>
        </p:spPr>
      </p:pic>
    </p:spTree>
    <p:extLst>
      <p:ext uri="{BB962C8B-B14F-4D97-AF65-F5344CB8AC3E}">
        <p14:creationId xmlns:p14="http://schemas.microsoft.com/office/powerpoint/2010/main" val="1810774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99325-473F-0B98-2550-78CBA2AB6BE5}"/>
              </a:ext>
            </a:extLst>
          </p:cNvPr>
          <p:cNvSpPr>
            <a:spLocks noGrp="1"/>
          </p:cNvSpPr>
          <p:nvPr>
            <p:ph type="title"/>
          </p:nvPr>
        </p:nvSpPr>
        <p:spPr>
          <a:xfrm>
            <a:off x="876694" y="741391"/>
            <a:ext cx="2833324" cy="1616203"/>
          </a:xfrm>
        </p:spPr>
        <p:txBody>
          <a:bodyPr vert="horz" lIns="91440" tIns="45720" rIns="91440" bIns="45720" rtlCol="0" anchor="b">
            <a:normAutofit/>
          </a:bodyPr>
          <a:lstStyle/>
          <a:p>
            <a:r>
              <a:rPr lang="en-US" sz="3200"/>
              <a:t>Fundamentals of Aviation</a:t>
            </a:r>
          </a:p>
        </p:txBody>
      </p:sp>
      <p:sp>
        <p:nvSpPr>
          <p:cNvPr id="21" name="Content Placeholder 20">
            <a:extLst>
              <a:ext uri="{FF2B5EF4-FFF2-40B4-BE49-F238E27FC236}">
                <a16:creationId xmlns:a16="http://schemas.microsoft.com/office/drawing/2014/main" id="{957473F8-E0AA-57A6-867A-605C81C94CBA}"/>
              </a:ext>
            </a:extLst>
          </p:cNvPr>
          <p:cNvSpPr>
            <a:spLocks noGrp="1"/>
          </p:cNvSpPr>
          <p:nvPr>
            <p:ph idx="1"/>
          </p:nvPr>
        </p:nvSpPr>
        <p:spPr>
          <a:xfrm>
            <a:off x="876694" y="2533476"/>
            <a:ext cx="2833324" cy="3447832"/>
          </a:xfrm>
        </p:spPr>
        <p:txBody>
          <a:bodyPr anchor="t">
            <a:normAutofit lnSpcReduction="10000"/>
          </a:bodyPr>
          <a:lstStyle/>
          <a:p>
            <a:r>
              <a:rPr lang="en-US" sz="2000" dirty="0"/>
              <a:t>Sir George Cayley established the fundamental principles of aerodynamics (lift, thrust, and drag) and flew the first successful manned glider in 1853. </a:t>
            </a:r>
          </a:p>
          <a:p>
            <a:r>
              <a:rPr lang="en-US" sz="2000" dirty="0"/>
              <a:t>Lilienthal made over 2000 controlled glides between 1891 and 1896. </a:t>
            </a:r>
          </a:p>
        </p:txBody>
      </p:sp>
      <p:pic>
        <p:nvPicPr>
          <p:cNvPr id="9" name="Picture 8">
            <a:extLst>
              <a:ext uri="{FF2B5EF4-FFF2-40B4-BE49-F238E27FC236}">
                <a16:creationId xmlns:a16="http://schemas.microsoft.com/office/drawing/2014/main" id="{35017EDB-D7A5-FD22-CDC4-3948A44EF31D}"/>
              </a:ext>
            </a:extLst>
          </p:cNvPr>
          <p:cNvPicPr>
            <a:picLocks noChangeAspect="1"/>
          </p:cNvPicPr>
          <p:nvPr/>
        </p:nvPicPr>
        <p:blipFill>
          <a:blip r:embed="rId3"/>
          <a:stretch>
            <a:fillRect/>
          </a:stretch>
        </p:blipFill>
        <p:spPr>
          <a:xfrm>
            <a:off x="4522471" y="1405713"/>
            <a:ext cx="3287840" cy="4046572"/>
          </a:xfrm>
          <a:prstGeom prst="rect">
            <a:avLst/>
          </a:prstGeom>
        </p:spPr>
      </p:pic>
      <p:pic>
        <p:nvPicPr>
          <p:cNvPr id="6" name="Content Placeholder 5">
            <a:extLst>
              <a:ext uri="{FF2B5EF4-FFF2-40B4-BE49-F238E27FC236}">
                <a16:creationId xmlns:a16="http://schemas.microsoft.com/office/drawing/2014/main" id="{4EBAEF33-B6E5-AB72-BF38-92A17D53AC63}"/>
              </a:ext>
            </a:extLst>
          </p:cNvPr>
          <p:cNvPicPr>
            <a:picLocks noChangeAspect="1"/>
          </p:cNvPicPr>
          <p:nvPr/>
        </p:nvPicPr>
        <p:blipFill>
          <a:blip r:embed="rId4"/>
          <a:stretch>
            <a:fillRect/>
          </a:stretch>
        </p:blipFill>
        <p:spPr>
          <a:xfrm>
            <a:off x="7983780" y="2743281"/>
            <a:ext cx="3331526" cy="1371436"/>
          </a:xfrm>
          <a:prstGeom prst="rect">
            <a:avLst/>
          </a:prstGeom>
        </p:spPr>
      </p:pic>
      <p:grpSp>
        <p:nvGrpSpPr>
          <p:cNvPr id="24" name="Group 23">
            <a:extLst>
              <a:ext uri="{FF2B5EF4-FFF2-40B4-BE49-F238E27FC236}">
                <a16:creationId xmlns:a16="http://schemas.microsoft.com/office/drawing/2014/main" id="{792AA144-DDFF-C43B-6866-516C9091D0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6737460"/>
            <a:ext cx="12192000" cy="123364"/>
            <a:chOff x="1" y="6737460"/>
            <a:chExt cx="12192000" cy="123364"/>
          </a:xfrm>
        </p:grpSpPr>
        <p:sp>
          <p:nvSpPr>
            <p:cNvPr id="25" name="Rectangle 24">
              <a:extLst>
                <a:ext uri="{FF2B5EF4-FFF2-40B4-BE49-F238E27FC236}">
                  <a16:creationId xmlns:a16="http://schemas.microsoft.com/office/drawing/2014/main" id="{56557A69-9517-26A8-EF3F-E65057EEC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034320" y="703141"/>
              <a:ext cx="123362" cy="12192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7C5987E-7AB5-0A21-D727-68B38B342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40559" y="4909383"/>
              <a:ext cx="123362" cy="3779520"/>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646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5EF17487-C386-4F99-B5EB-4FD3DF423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A0DE92DF-4769-4DE9-93FD-EE312718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bg2">
              <a:alpha val="50000"/>
            </a:schemeClr>
          </a:solidFill>
          <a:ln w="32707" cap="flat">
            <a:noFill/>
            <a:prstDash val="solid"/>
            <a:miter/>
          </a:ln>
        </p:spPr>
        <p:txBody>
          <a:bodyPr wrap="square" rtlCol="0" anchor="ctr">
            <a:noAutofit/>
          </a:bodyPr>
          <a:lstStyle/>
          <a:p>
            <a:endParaRPr lang="en-US">
              <a:solidFill>
                <a:schemeClr val="tx1"/>
              </a:solidFill>
            </a:endParaRPr>
          </a:p>
        </p:txBody>
      </p:sp>
      <p:sp>
        <p:nvSpPr>
          <p:cNvPr id="2" name="Title 1">
            <a:extLst>
              <a:ext uri="{FF2B5EF4-FFF2-40B4-BE49-F238E27FC236}">
                <a16:creationId xmlns:a16="http://schemas.microsoft.com/office/drawing/2014/main" id="{31844C46-9BDB-CF5C-3A87-7E8221D0C9A8}"/>
              </a:ext>
            </a:extLst>
          </p:cNvPr>
          <p:cNvSpPr>
            <a:spLocks noGrp="1"/>
          </p:cNvSpPr>
          <p:nvPr>
            <p:ph type="title"/>
          </p:nvPr>
        </p:nvSpPr>
        <p:spPr>
          <a:xfrm>
            <a:off x="1246824" y="643467"/>
            <a:ext cx="4772975" cy="1800526"/>
          </a:xfrm>
        </p:spPr>
        <p:txBody>
          <a:bodyPr>
            <a:normAutofit/>
          </a:bodyPr>
          <a:lstStyle/>
          <a:p>
            <a:r>
              <a:rPr lang="en-US" dirty="0"/>
              <a:t>Wright Brothers’ First Flight</a:t>
            </a:r>
          </a:p>
        </p:txBody>
      </p:sp>
      <p:sp>
        <p:nvSpPr>
          <p:cNvPr id="25" name="Content Placeholder 12">
            <a:extLst>
              <a:ext uri="{FF2B5EF4-FFF2-40B4-BE49-F238E27FC236}">
                <a16:creationId xmlns:a16="http://schemas.microsoft.com/office/drawing/2014/main" id="{CACC4A51-9E0A-737A-325B-D9BD70FBD835}"/>
              </a:ext>
            </a:extLst>
          </p:cNvPr>
          <p:cNvSpPr>
            <a:spLocks noGrp="1"/>
          </p:cNvSpPr>
          <p:nvPr>
            <p:ph idx="1"/>
          </p:nvPr>
        </p:nvSpPr>
        <p:spPr>
          <a:xfrm>
            <a:off x="1246824" y="2623381"/>
            <a:ext cx="4772974" cy="3553581"/>
          </a:xfrm>
        </p:spPr>
        <p:txBody>
          <a:bodyPr>
            <a:normAutofit/>
          </a:bodyPr>
          <a:lstStyle/>
          <a:p>
            <a:r>
              <a:rPr lang="en-US" sz="2000" dirty="0"/>
              <a:t>The Wright Brothers’ first airplane, the 1903 Wright Flyer, was flown over Kitty Hawk, North Carolina. This historic flight lasted 12 seconds. </a:t>
            </a:r>
          </a:p>
          <a:p>
            <a:r>
              <a:rPr lang="en-US" sz="2000" dirty="0"/>
              <a:t>Featured 12 horsepower engine and used low octane gasoline. </a:t>
            </a:r>
          </a:p>
          <a:p>
            <a:r>
              <a:rPr lang="en-US" sz="2000" dirty="0"/>
              <a:t>Charles Taylor was the engine builder</a:t>
            </a:r>
          </a:p>
          <a:p>
            <a:r>
              <a:rPr lang="en-US" sz="2000" dirty="0"/>
              <a:t>Wright Brothers completed four flights that day, longest being 59 seconds and covering 852 feet. </a:t>
            </a:r>
          </a:p>
        </p:txBody>
      </p:sp>
      <p:pic>
        <p:nvPicPr>
          <p:cNvPr id="6" name="Picture 5">
            <a:extLst>
              <a:ext uri="{FF2B5EF4-FFF2-40B4-BE49-F238E27FC236}">
                <a16:creationId xmlns:a16="http://schemas.microsoft.com/office/drawing/2014/main" id="{24C56BBA-08B9-235F-E374-AEEC172D4D62}"/>
              </a:ext>
            </a:extLst>
          </p:cNvPr>
          <p:cNvPicPr>
            <a:picLocks noChangeAspect="1"/>
          </p:cNvPicPr>
          <p:nvPr/>
        </p:nvPicPr>
        <p:blipFill>
          <a:blip r:embed="rId3"/>
          <a:stretch>
            <a:fillRect/>
          </a:stretch>
        </p:blipFill>
        <p:spPr>
          <a:xfrm>
            <a:off x="7875228" y="643468"/>
            <a:ext cx="3498287" cy="2545005"/>
          </a:xfrm>
          <a:prstGeom prst="rect">
            <a:avLst/>
          </a:prstGeom>
        </p:spPr>
      </p:pic>
      <p:pic>
        <p:nvPicPr>
          <p:cNvPr id="9" name="Content Placeholder 8">
            <a:extLst>
              <a:ext uri="{FF2B5EF4-FFF2-40B4-BE49-F238E27FC236}">
                <a16:creationId xmlns:a16="http://schemas.microsoft.com/office/drawing/2014/main" id="{FF7F1496-8396-270B-3691-67DAF936DF8A}"/>
              </a:ext>
            </a:extLst>
          </p:cNvPr>
          <p:cNvPicPr>
            <a:picLocks noChangeAspect="1"/>
          </p:cNvPicPr>
          <p:nvPr/>
        </p:nvPicPr>
        <p:blipFill>
          <a:blip r:embed="rId4"/>
          <a:stretch>
            <a:fillRect/>
          </a:stretch>
        </p:blipFill>
        <p:spPr>
          <a:xfrm>
            <a:off x="7921719" y="3657600"/>
            <a:ext cx="3405305" cy="2585510"/>
          </a:xfrm>
          <a:prstGeom prst="rect">
            <a:avLst/>
          </a:prstGeom>
        </p:spPr>
      </p:pic>
    </p:spTree>
    <p:extLst>
      <p:ext uri="{BB962C8B-B14F-4D97-AF65-F5344CB8AC3E}">
        <p14:creationId xmlns:p14="http://schemas.microsoft.com/office/powerpoint/2010/main" val="4238288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9F1FFA9-D672-408C-9220-ADEEC6ABD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E0D3F4-1A14-821B-A57C-8F4AC172F6C6}"/>
              </a:ext>
            </a:extLst>
          </p:cNvPr>
          <p:cNvSpPr>
            <a:spLocks noGrp="1"/>
          </p:cNvSpPr>
          <p:nvPr>
            <p:ph type="title"/>
          </p:nvPr>
        </p:nvSpPr>
        <p:spPr>
          <a:xfrm>
            <a:off x="838201" y="365125"/>
            <a:ext cx="3816095" cy="1938076"/>
          </a:xfrm>
        </p:spPr>
        <p:txBody>
          <a:bodyPr>
            <a:normAutofit/>
          </a:bodyPr>
          <a:lstStyle/>
          <a:p>
            <a:r>
              <a:rPr lang="en-US" dirty="0"/>
              <a:t>Early Aviation Gas</a:t>
            </a:r>
          </a:p>
        </p:txBody>
      </p:sp>
      <p:sp>
        <p:nvSpPr>
          <p:cNvPr id="13" name="Content Placeholder 12">
            <a:extLst>
              <a:ext uri="{FF2B5EF4-FFF2-40B4-BE49-F238E27FC236}">
                <a16:creationId xmlns:a16="http://schemas.microsoft.com/office/drawing/2014/main" id="{B1434A22-D4A7-3CB7-7A83-3A423CED819A}"/>
              </a:ext>
            </a:extLst>
          </p:cNvPr>
          <p:cNvSpPr>
            <a:spLocks noGrp="1"/>
          </p:cNvSpPr>
          <p:nvPr>
            <p:ph idx="1"/>
          </p:nvPr>
        </p:nvSpPr>
        <p:spPr>
          <a:xfrm>
            <a:off x="838201" y="2482589"/>
            <a:ext cx="3816096" cy="3694373"/>
          </a:xfrm>
        </p:spPr>
        <p:txBody>
          <a:bodyPr>
            <a:normAutofit/>
          </a:bodyPr>
          <a:lstStyle/>
          <a:p>
            <a:r>
              <a:rPr lang="en-US" sz="2000" dirty="0"/>
              <a:t>Early aviation gas used was a 65 octane fuel as aircraft engines became more powerful, needing higher compression ratios to improve performance and fuel efficiency. </a:t>
            </a:r>
          </a:p>
          <a:p>
            <a:r>
              <a:rPr lang="en-US" sz="2000" dirty="0"/>
              <a:t>TetraEthyl Lead (1920s) improved octane rating, allowing high-powered piston engines</a:t>
            </a:r>
          </a:p>
        </p:txBody>
      </p:sp>
      <p:pic>
        <p:nvPicPr>
          <p:cNvPr id="9" name="Picture 8">
            <a:extLst>
              <a:ext uri="{FF2B5EF4-FFF2-40B4-BE49-F238E27FC236}">
                <a16:creationId xmlns:a16="http://schemas.microsoft.com/office/drawing/2014/main" id="{9A835DE2-4FCB-407E-FA8C-7955B183A0B3}"/>
              </a:ext>
            </a:extLst>
          </p:cNvPr>
          <p:cNvPicPr>
            <a:picLocks noChangeAspect="1"/>
          </p:cNvPicPr>
          <p:nvPr/>
        </p:nvPicPr>
        <p:blipFill>
          <a:blip r:embed="rId3"/>
          <a:srcRect t="16903" r="-1" b="30153"/>
          <a:stretch>
            <a:fillRect/>
          </a:stretch>
        </p:blipFill>
        <p:spPr>
          <a:xfrm>
            <a:off x="4904316" y="-4"/>
            <a:ext cx="7287684" cy="3694372"/>
          </a:xfrm>
          <a:custGeom>
            <a:avLst/>
            <a:gdLst/>
            <a:ahLst/>
            <a:cxnLst/>
            <a:rect l="l" t="t" r="r" b="b"/>
            <a:pathLst>
              <a:path w="7287684" h="3694372">
                <a:moveTo>
                  <a:pt x="1047969" y="0"/>
                </a:moveTo>
                <a:lnTo>
                  <a:pt x="7287684" y="0"/>
                </a:lnTo>
                <a:lnTo>
                  <a:pt x="7287684" y="814388"/>
                </a:lnTo>
                <a:lnTo>
                  <a:pt x="7287684" y="3694372"/>
                </a:lnTo>
                <a:lnTo>
                  <a:pt x="471411" y="3694372"/>
                </a:lnTo>
                <a:lnTo>
                  <a:pt x="470992" y="3686621"/>
                </a:lnTo>
                <a:cubicBezTo>
                  <a:pt x="458999" y="3642419"/>
                  <a:pt x="427907" y="3602236"/>
                  <a:pt x="376383" y="3554015"/>
                </a:cubicBezTo>
                <a:cubicBezTo>
                  <a:pt x="315976" y="3500438"/>
                  <a:pt x="255568" y="3454003"/>
                  <a:pt x="170288" y="3407569"/>
                </a:cubicBezTo>
                <a:cubicBezTo>
                  <a:pt x="365723" y="3382565"/>
                  <a:pt x="163181" y="3296841"/>
                  <a:pt x="230695" y="3243263"/>
                </a:cubicBezTo>
                <a:cubicBezTo>
                  <a:pt x="369276" y="3221831"/>
                  <a:pt x="479431" y="3393282"/>
                  <a:pt x="667759" y="3343275"/>
                </a:cubicBezTo>
                <a:cubicBezTo>
                  <a:pt x="440344" y="3196828"/>
                  <a:pt x="184501" y="3150393"/>
                  <a:pt x="17493" y="2953940"/>
                </a:cubicBezTo>
                <a:cubicBezTo>
                  <a:pt x="56580" y="2911078"/>
                  <a:pt x="95667" y="2953940"/>
                  <a:pt x="127647" y="2936081"/>
                </a:cubicBezTo>
                <a:cubicBezTo>
                  <a:pt x="127647" y="2925365"/>
                  <a:pt x="500751" y="2993232"/>
                  <a:pt x="522071" y="2714625"/>
                </a:cubicBezTo>
                <a:cubicBezTo>
                  <a:pt x="529178" y="2714625"/>
                  <a:pt x="536285" y="2714625"/>
                  <a:pt x="543391" y="2703909"/>
                </a:cubicBezTo>
                <a:cubicBezTo>
                  <a:pt x="582478" y="2664619"/>
                  <a:pt x="546945" y="2571750"/>
                  <a:pt x="610905" y="2564606"/>
                </a:cubicBezTo>
                <a:cubicBezTo>
                  <a:pt x="681973" y="2557462"/>
                  <a:pt x="749487" y="2525315"/>
                  <a:pt x="824107" y="2543175"/>
                </a:cubicBezTo>
                <a:cubicBezTo>
                  <a:pt x="880961" y="2557462"/>
                  <a:pt x="941368" y="2575322"/>
                  <a:pt x="1001776" y="2575322"/>
                </a:cubicBezTo>
                <a:cubicBezTo>
                  <a:pt x="1065736" y="2575322"/>
                  <a:pt x="1154570" y="2696766"/>
                  <a:pt x="1193658" y="2536031"/>
                </a:cubicBezTo>
                <a:cubicBezTo>
                  <a:pt x="1193658" y="2528888"/>
                  <a:pt x="1303812" y="2546747"/>
                  <a:pt x="1364219" y="2553891"/>
                </a:cubicBezTo>
                <a:cubicBezTo>
                  <a:pt x="1413966" y="2561035"/>
                  <a:pt x="1474374" y="2593181"/>
                  <a:pt x="1509907" y="2528888"/>
                </a:cubicBezTo>
                <a:cubicBezTo>
                  <a:pt x="1527674" y="2489596"/>
                  <a:pt x="1442393" y="2418159"/>
                  <a:pt x="1367772" y="2411015"/>
                </a:cubicBezTo>
                <a:cubicBezTo>
                  <a:pt x="1300259" y="2403872"/>
                  <a:pt x="1232745" y="2396728"/>
                  <a:pt x="1168784" y="2411015"/>
                </a:cubicBezTo>
                <a:cubicBezTo>
                  <a:pt x="1090610" y="2428875"/>
                  <a:pt x="1047969" y="2400300"/>
                  <a:pt x="1026649" y="2336007"/>
                </a:cubicBezTo>
                <a:cubicBezTo>
                  <a:pt x="1001776" y="2268141"/>
                  <a:pt x="955582" y="2232422"/>
                  <a:pt x="891621" y="2200275"/>
                </a:cubicBezTo>
                <a:cubicBezTo>
                  <a:pt x="735273" y="2121694"/>
                  <a:pt x="586032" y="2028825"/>
                  <a:pt x="415470" y="1982390"/>
                </a:cubicBezTo>
                <a:cubicBezTo>
                  <a:pt x="383490" y="1975246"/>
                  <a:pt x="344403" y="1960959"/>
                  <a:pt x="330189" y="1900238"/>
                </a:cubicBezTo>
                <a:cubicBezTo>
                  <a:pt x="792127" y="1993106"/>
                  <a:pt x="1211424" y="2232422"/>
                  <a:pt x="1687576" y="2218135"/>
                </a:cubicBezTo>
                <a:cubicBezTo>
                  <a:pt x="1559654" y="2143125"/>
                  <a:pt x="1406860" y="2139554"/>
                  <a:pt x="1268278" y="2085975"/>
                </a:cubicBezTo>
                <a:cubicBezTo>
                  <a:pt x="1367772" y="2046685"/>
                  <a:pt x="1460160" y="2089547"/>
                  <a:pt x="1552548" y="2110978"/>
                </a:cubicBezTo>
                <a:cubicBezTo>
                  <a:pt x="1630722" y="2128837"/>
                  <a:pt x="1701789" y="2132410"/>
                  <a:pt x="1708896" y="2021681"/>
                </a:cubicBezTo>
                <a:cubicBezTo>
                  <a:pt x="1708896" y="2010965"/>
                  <a:pt x="1708896" y="2003821"/>
                  <a:pt x="1708896" y="1993106"/>
                </a:cubicBezTo>
                <a:cubicBezTo>
                  <a:pt x="1680469" y="1946672"/>
                  <a:pt x="1641382" y="1925240"/>
                  <a:pt x="1591635" y="1910953"/>
                </a:cubicBezTo>
                <a:cubicBezTo>
                  <a:pt x="1563208" y="1903809"/>
                  <a:pt x="1524121" y="1889522"/>
                  <a:pt x="1524121" y="1857375"/>
                </a:cubicBezTo>
                <a:cubicBezTo>
                  <a:pt x="1527674" y="1735931"/>
                  <a:pt x="1431733" y="1700212"/>
                  <a:pt x="1339346" y="1664493"/>
                </a:cubicBezTo>
                <a:cubicBezTo>
                  <a:pt x="1389093" y="1603772"/>
                  <a:pt x="1431733" y="1646635"/>
                  <a:pt x="1470820" y="1643062"/>
                </a:cubicBezTo>
                <a:cubicBezTo>
                  <a:pt x="1495694" y="1639491"/>
                  <a:pt x="1520567" y="1635919"/>
                  <a:pt x="1520567" y="1603772"/>
                </a:cubicBezTo>
                <a:cubicBezTo>
                  <a:pt x="1520567" y="1578769"/>
                  <a:pt x="1509907" y="1546622"/>
                  <a:pt x="1485034" y="1546622"/>
                </a:cubicBezTo>
                <a:cubicBezTo>
                  <a:pt x="1328686" y="1543050"/>
                  <a:pt x="1239851" y="1371600"/>
                  <a:pt x="1076396" y="1371600"/>
                </a:cubicBezTo>
                <a:cubicBezTo>
                  <a:pt x="976902" y="1371600"/>
                  <a:pt x="1126144" y="1275159"/>
                  <a:pt x="1044416" y="1235869"/>
                </a:cubicBezTo>
                <a:cubicBezTo>
                  <a:pt x="1026649" y="1225153"/>
                  <a:pt x="1094163" y="1210866"/>
                  <a:pt x="1122590" y="1214437"/>
                </a:cubicBezTo>
                <a:cubicBezTo>
                  <a:pt x="1151017" y="1218009"/>
                  <a:pt x="1175891" y="1243013"/>
                  <a:pt x="1211424" y="1225153"/>
                </a:cubicBezTo>
                <a:cubicBezTo>
                  <a:pt x="1229191" y="1160860"/>
                  <a:pt x="1182997" y="1135856"/>
                  <a:pt x="1140357" y="1117997"/>
                </a:cubicBezTo>
                <a:cubicBezTo>
                  <a:pt x="1047969" y="1075135"/>
                  <a:pt x="955582" y="1025129"/>
                  <a:pt x="852534" y="1010841"/>
                </a:cubicBezTo>
                <a:cubicBezTo>
                  <a:pt x="817001" y="1007269"/>
                  <a:pt x="795680" y="989409"/>
                  <a:pt x="799234" y="953690"/>
                </a:cubicBezTo>
                <a:cubicBezTo>
                  <a:pt x="806340" y="907256"/>
                  <a:pt x="841874" y="921544"/>
                  <a:pt x="870301" y="925115"/>
                </a:cubicBezTo>
                <a:cubicBezTo>
                  <a:pt x="888068" y="928688"/>
                  <a:pt x="905835" y="939403"/>
                  <a:pt x="923602" y="914400"/>
                </a:cubicBezTo>
                <a:cubicBezTo>
                  <a:pt x="611794" y="724198"/>
                  <a:pt x="409919" y="684684"/>
                  <a:pt x="132090" y="589415"/>
                </a:cubicBezTo>
                <a:lnTo>
                  <a:pt x="31922" y="552917"/>
                </a:lnTo>
                <a:lnTo>
                  <a:pt x="26859" y="541335"/>
                </a:lnTo>
                <a:cubicBezTo>
                  <a:pt x="20137" y="534929"/>
                  <a:pt x="8953" y="532232"/>
                  <a:pt x="0" y="527681"/>
                </a:cubicBezTo>
                <a:cubicBezTo>
                  <a:pt x="5969" y="516305"/>
                  <a:pt x="7617" y="502963"/>
                  <a:pt x="17905" y="493550"/>
                </a:cubicBezTo>
                <a:cubicBezTo>
                  <a:pt x="23947" y="488022"/>
                  <a:pt x="35344" y="487159"/>
                  <a:pt x="44763" y="486724"/>
                </a:cubicBezTo>
                <a:lnTo>
                  <a:pt x="165722" y="483650"/>
                </a:lnTo>
                <a:lnTo>
                  <a:pt x="193385" y="498723"/>
                </a:lnTo>
                <a:cubicBezTo>
                  <a:pt x="210263" y="511671"/>
                  <a:pt x="227142" y="525066"/>
                  <a:pt x="315976" y="535781"/>
                </a:cubicBezTo>
                <a:cubicBezTo>
                  <a:pt x="401257" y="546497"/>
                  <a:pt x="479431" y="582216"/>
                  <a:pt x="575372" y="525066"/>
                </a:cubicBezTo>
                <a:cubicBezTo>
                  <a:pt x="639332" y="485775"/>
                  <a:pt x="742380" y="528637"/>
                  <a:pt x="820554" y="560785"/>
                </a:cubicBezTo>
                <a:cubicBezTo>
                  <a:pt x="884515" y="589360"/>
                  <a:pt x="948475" y="596503"/>
                  <a:pt x="1033756" y="560785"/>
                </a:cubicBezTo>
                <a:cubicBezTo>
                  <a:pt x="955582" y="539354"/>
                  <a:pt x="895175" y="521494"/>
                  <a:pt x="834767" y="507206"/>
                </a:cubicBezTo>
                <a:cubicBezTo>
                  <a:pt x="785020" y="496491"/>
                  <a:pt x="756593" y="471488"/>
                  <a:pt x="760147" y="417909"/>
                </a:cubicBezTo>
                <a:cubicBezTo>
                  <a:pt x="760147" y="389334"/>
                  <a:pt x="749487" y="350044"/>
                  <a:pt x="785020" y="335757"/>
                </a:cubicBezTo>
                <a:cubicBezTo>
                  <a:pt x="813447" y="321469"/>
                  <a:pt x="852534" y="335757"/>
                  <a:pt x="866748" y="360759"/>
                </a:cubicBezTo>
                <a:cubicBezTo>
                  <a:pt x="884515" y="407194"/>
                  <a:pt x="902281" y="450056"/>
                  <a:pt x="962689" y="453629"/>
                </a:cubicBezTo>
                <a:cubicBezTo>
                  <a:pt x="1044416" y="460771"/>
                  <a:pt x="998222" y="432197"/>
                  <a:pt x="984009" y="396478"/>
                </a:cubicBezTo>
                <a:cubicBezTo>
                  <a:pt x="969795" y="357188"/>
                  <a:pt x="1012436" y="346472"/>
                  <a:pt x="1040863" y="353615"/>
                </a:cubicBezTo>
                <a:cubicBezTo>
                  <a:pt x="1147464" y="385763"/>
                  <a:pt x="1257618" y="328613"/>
                  <a:pt x="1367772" y="375047"/>
                </a:cubicBezTo>
                <a:cubicBezTo>
                  <a:pt x="1339346" y="260747"/>
                  <a:pt x="1278938" y="210741"/>
                  <a:pt x="1151017" y="192881"/>
                </a:cubicBezTo>
                <a:cubicBezTo>
                  <a:pt x="1104823" y="189310"/>
                  <a:pt x="1055076" y="196453"/>
                  <a:pt x="1012436" y="164306"/>
                </a:cubicBezTo>
                <a:cubicBezTo>
                  <a:pt x="987562" y="146447"/>
                  <a:pt x="962689" y="125016"/>
                  <a:pt x="980456" y="89297"/>
                </a:cubicBezTo>
                <a:cubicBezTo>
                  <a:pt x="991116" y="64294"/>
                  <a:pt x="1019542" y="64294"/>
                  <a:pt x="1044416" y="71437"/>
                </a:cubicBezTo>
                <a:cubicBezTo>
                  <a:pt x="1147464" y="110728"/>
                  <a:pt x="1257618" y="121444"/>
                  <a:pt x="1364219" y="135731"/>
                </a:cubicBezTo>
                <a:cubicBezTo>
                  <a:pt x="1381986" y="139303"/>
                  <a:pt x="1399753" y="146447"/>
                  <a:pt x="1417520" y="110728"/>
                </a:cubicBezTo>
                <a:cubicBezTo>
                  <a:pt x="1293152" y="78581"/>
                  <a:pt x="1172337" y="35719"/>
                  <a:pt x="1047969" y="0"/>
                </a:cubicBezTo>
                <a:close/>
              </a:path>
            </a:pathLst>
          </a:custGeom>
        </p:spPr>
      </p:pic>
      <p:pic>
        <p:nvPicPr>
          <p:cNvPr id="6" name="Content Placeholder 5">
            <a:extLst>
              <a:ext uri="{FF2B5EF4-FFF2-40B4-BE49-F238E27FC236}">
                <a16:creationId xmlns:a16="http://schemas.microsoft.com/office/drawing/2014/main" id="{7CAC797E-121A-A22A-6997-E514CBAF935A}"/>
              </a:ext>
            </a:extLst>
          </p:cNvPr>
          <p:cNvPicPr>
            <a:picLocks noChangeAspect="1"/>
          </p:cNvPicPr>
          <p:nvPr/>
        </p:nvPicPr>
        <p:blipFill>
          <a:blip r:embed="rId4"/>
          <a:srcRect t="6227" r="-3" b="-3"/>
          <a:stretch>
            <a:fillRect/>
          </a:stretch>
        </p:blipFill>
        <p:spPr>
          <a:xfrm>
            <a:off x="4726728" y="3802961"/>
            <a:ext cx="7472381" cy="3055043"/>
          </a:xfrm>
          <a:custGeom>
            <a:avLst/>
            <a:gdLst/>
            <a:ahLst/>
            <a:cxnLst/>
            <a:rect l="l" t="t" r="r" b="b"/>
            <a:pathLst>
              <a:path w="7472381" h="3055043">
                <a:moveTo>
                  <a:pt x="638975" y="0"/>
                </a:moveTo>
                <a:lnTo>
                  <a:pt x="7472381" y="0"/>
                </a:lnTo>
                <a:lnTo>
                  <a:pt x="7472381" y="2579984"/>
                </a:lnTo>
                <a:lnTo>
                  <a:pt x="7472381" y="3055043"/>
                </a:lnTo>
                <a:lnTo>
                  <a:pt x="6992676"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p:spPr>
      </p:pic>
    </p:spTree>
    <p:extLst>
      <p:ext uri="{BB962C8B-B14F-4D97-AF65-F5344CB8AC3E}">
        <p14:creationId xmlns:p14="http://schemas.microsoft.com/office/powerpoint/2010/main" val="514240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AE47195D-EC06-4298-8805-0F0D659976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7B96C1-D198-AFEB-2A22-2C8BD7344C9E}"/>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a:t>Shift to Gas Powered Turbine Engines</a:t>
            </a:r>
          </a:p>
        </p:txBody>
      </p:sp>
      <p:sp>
        <p:nvSpPr>
          <p:cNvPr id="31" name="Rectangle 30">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1EADB9C-784E-DE45-92A2-73CF34A2CAA0}"/>
              </a:ext>
            </a:extLst>
          </p:cNvPr>
          <p:cNvPicPr>
            <a:picLocks noChangeAspect="1"/>
          </p:cNvPicPr>
          <p:nvPr/>
        </p:nvPicPr>
        <p:blipFill>
          <a:blip r:embed="rId3"/>
          <a:stretch>
            <a:fillRect/>
          </a:stretch>
        </p:blipFill>
        <p:spPr>
          <a:xfrm>
            <a:off x="545237" y="1150943"/>
            <a:ext cx="3685032" cy="4627070"/>
          </a:xfrm>
          <a:prstGeom prst="rect">
            <a:avLst/>
          </a:prstGeom>
        </p:spPr>
      </p:pic>
      <p:pic>
        <p:nvPicPr>
          <p:cNvPr id="6" name="Content Placeholder 5">
            <a:extLst>
              <a:ext uri="{FF2B5EF4-FFF2-40B4-BE49-F238E27FC236}">
                <a16:creationId xmlns:a16="http://schemas.microsoft.com/office/drawing/2014/main" id="{5811827C-92AC-36D3-DA71-65AAAC5D02F1}"/>
              </a:ext>
            </a:extLst>
          </p:cNvPr>
          <p:cNvPicPr>
            <a:picLocks noGrp="1" noChangeAspect="1"/>
          </p:cNvPicPr>
          <p:nvPr>
            <p:ph idx="1"/>
          </p:nvPr>
        </p:nvPicPr>
        <p:blipFill>
          <a:blip r:embed="rId4"/>
          <a:stretch>
            <a:fillRect/>
          </a:stretch>
        </p:blipFill>
        <p:spPr>
          <a:xfrm>
            <a:off x="4457706" y="1702596"/>
            <a:ext cx="3685032" cy="3523761"/>
          </a:xfrm>
          <a:prstGeom prst="rect">
            <a:avLst/>
          </a:prstGeom>
        </p:spPr>
      </p:pic>
      <p:sp>
        <p:nvSpPr>
          <p:cNvPr id="30" name="Rectangle 29">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3520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891ED3-3511-E159-5684-FA530314DDBA}"/>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4600"/>
              <a:t>Ban on Leaded Fuel and Testing of Alternative Fueld</a:t>
            </a:r>
          </a:p>
        </p:txBody>
      </p:sp>
      <p:sp>
        <p:nvSpPr>
          <p:cNvPr id="16"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A91F02C7-530E-4AF8-D268-2B2475275943}"/>
              </a:ext>
            </a:extLst>
          </p:cNvPr>
          <p:cNvPicPr>
            <a:picLocks noGrp="1" noChangeAspect="1"/>
          </p:cNvPicPr>
          <p:nvPr>
            <p:ph idx="1"/>
          </p:nvPr>
        </p:nvPicPr>
        <p:blipFill>
          <a:blip r:embed="rId3"/>
          <a:stretch>
            <a:fillRect/>
          </a:stretch>
        </p:blipFill>
        <p:spPr>
          <a:xfrm>
            <a:off x="1866032" y="2642616"/>
            <a:ext cx="2522432" cy="3605784"/>
          </a:xfrm>
          <a:prstGeom prst="rect">
            <a:avLst/>
          </a:prstGeom>
        </p:spPr>
      </p:pic>
      <p:pic>
        <p:nvPicPr>
          <p:cNvPr id="9" name="Picture 8">
            <a:extLst>
              <a:ext uri="{FF2B5EF4-FFF2-40B4-BE49-F238E27FC236}">
                <a16:creationId xmlns:a16="http://schemas.microsoft.com/office/drawing/2014/main" id="{F6CE00CD-29C9-6DA1-92F1-DAEC1A7A7803}"/>
              </a:ext>
            </a:extLst>
          </p:cNvPr>
          <p:cNvPicPr>
            <a:picLocks noChangeAspect="1"/>
          </p:cNvPicPr>
          <p:nvPr/>
        </p:nvPicPr>
        <p:blipFill>
          <a:blip r:embed="rId4"/>
          <a:stretch>
            <a:fillRect/>
          </a:stretch>
        </p:blipFill>
        <p:spPr>
          <a:xfrm>
            <a:off x="6254496" y="2827521"/>
            <a:ext cx="5614416" cy="3235974"/>
          </a:xfrm>
          <a:prstGeom prst="rect">
            <a:avLst/>
          </a:prstGeom>
        </p:spPr>
      </p:pic>
    </p:spTree>
    <p:extLst>
      <p:ext uri="{BB962C8B-B14F-4D97-AF65-F5344CB8AC3E}">
        <p14:creationId xmlns:p14="http://schemas.microsoft.com/office/powerpoint/2010/main" val="112743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46C9E1-8466-974D-C722-88C192FAE508}"/>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4600"/>
              <a:t>General Electric’s Sustainable Aviation Fuel Testing</a:t>
            </a:r>
          </a:p>
        </p:txBody>
      </p:sp>
      <p:sp>
        <p:nvSpPr>
          <p:cNvPr id="16"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63A19020-E2BE-17B6-7FD9-883383C271B4}"/>
              </a:ext>
            </a:extLst>
          </p:cNvPr>
          <p:cNvPicPr>
            <a:picLocks noGrp="1" noChangeAspect="1"/>
          </p:cNvPicPr>
          <p:nvPr>
            <p:ph idx="1"/>
          </p:nvPr>
        </p:nvPicPr>
        <p:blipFill>
          <a:blip r:embed="rId3"/>
          <a:stretch>
            <a:fillRect/>
          </a:stretch>
        </p:blipFill>
        <p:spPr>
          <a:xfrm>
            <a:off x="320040" y="2817327"/>
            <a:ext cx="5614416" cy="3256361"/>
          </a:xfrm>
          <a:prstGeom prst="rect">
            <a:avLst/>
          </a:prstGeom>
        </p:spPr>
      </p:pic>
      <p:pic>
        <p:nvPicPr>
          <p:cNvPr id="9" name="Picture 8">
            <a:extLst>
              <a:ext uri="{FF2B5EF4-FFF2-40B4-BE49-F238E27FC236}">
                <a16:creationId xmlns:a16="http://schemas.microsoft.com/office/drawing/2014/main" id="{5EEE8600-8E8D-D272-69BA-05A454D0717A}"/>
              </a:ext>
            </a:extLst>
          </p:cNvPr>
          <p:cNvPicPr>
            <a:picLocks noChangeAspect="1"/>
          </p:cNvPicPr>
          <p:nvPr/>
        </p:nvPicPr>
        <p:blipFill>
          <a:blip r:embed="rId4"/>
          <a:stretch>
            <a:fillRect/>
          </a:stretch>
        </p:blipFill>
        <p:spPr>
          <a:xfrm>
            <a:off x="6254496" y="2978741"/>
            <a:ext cx="5614416" cy="2933534"/>
          </a:xfrm>
          <a:prstGeom prst="rect">
            <a:avLst/>
          </a:prstGeom>
        </p:spPr>
      </p:pic>
    </p:spTree>
    <p:extLst>
      <p:ext uri="{BB962C8B-B14F-4D97-AF65-F5344CB8AC3E}">
        <p14:creationId xmlns:p14="http://schemas.microsoft.com/office/powerpoint/2010/main" val="4257685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1EFCEB-4FBE-46D1-720A-D6B487636817}"/>
              </a:ext>
            </a:extLst>
          </p:cNvPr>
          <p:cNvSpPr>
            <a:spLocks noGrp="1"/>
          </p:cNvSpPr>
          <p:nvPr>
            <p:ph type="title"/>
          </p:nvPr>
        </p:nvSpPr>
        <p:spPr>
          <a:xfrm>
            <a:off x="638881" y="670218"/>
            <a:ext cx="10909640" cy="1065836"/>
          </a:xfrm>
        </p:spPr>
        <p:txBody>
          <a:bodyPr vert="horz" lIns="91440" tIns="45720" rIns="91440" bIns="45720" rtlCol="0" anchor="ctr">
            <a:normAutofit/>
          </a:bodyPr>
          <a:lstStyle/>
          <a:p>
            <a:pPr algn="ctr"/>
            <a:r>
              <a:rPr lang="en-US" sz="3600"/>
              <a:t>United Airlines commitment to Sustainable Aviation Fuel</a:t>
            </a:r>
          </a:p>
        </p:txBody>
      </p:sp>
      <p:sp>
        <p:nvSpPr>
          <p:cNvPr id="38"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F331C43-3E09-F2F6-1D97-C1760CCFC44F}"/>
              </a:ext>
            </a:extLst>
          </p:cNvPr>
          <p:cNvPicPr>
            <a:picLocks noChangeAspect="1"/>
          </p:cNvPicPr>
          <p:nvPr/>
        </p:nvPicPr>
        <p:blipFill>
          <a:blip r:embed="rId3"/>
          <a:stretch>
            <a:fillRect/>
          </a:stretch>
        </p:blipFill>
        <p:spPr>
          <a:xfrm>
            <a:off x="1049856" y="2619784"/>
            <a:ext cx="2243687" cy="3600041"/>
          </a:xfrm>
          <a:prstGeom prst="rect">
            <a:avLst/>
          </a:prstGeom>
        </p:spPr>
      </p:pic>
      <p:pic>
        <p:nvPicPr>
          <p:cNvPr id="6" name="Content Placeholder 5">
            <a:extLst>
              <a:ext uri="{FF2B5EF4-FFF2-40B4-BE49-F238E27FC236}">
                <a16:creationId xmlns:a16="http://schemas.microsoft.com/office/drawing/2014/main" id="{365A99C6-8D0F-FEC4-38C0-63E153EC35EF}"/>
              </a:ext>
            </a:extLst>
          </p:cNvPr>
          <p:cNvPicPr>
            <a:picLocks noGrp="1" noChangeAspect="1"/>
          </p:cNvPicPr>
          <p:nvPr>
            <p:ph idx="1"/>
          </p:nvPr>
        </p:nvPicPr>
        <p:blipFill>
          <a:blip r:embed="rId4"/>
          <a:stretch>
            <a:fillRect/>
          </a:stretch>
        </p:blipFill>
        <p:spPr>
          <a:xfrm>
            <a:off x="4295979" y="2619784"/>
            <a:ext cx="3600041" cy="3600041"/>
          </a:xfrm>
          <a:prstGeom prst="rect">
            <a:avLst/>
          </a:prstGeom>
        </p:spPr>
      </p:pic>
      <p:pic>
        <p:nvPicPr>
          <p:cNvPr id="12" name="Picture 11">
            <a:extLst>
              <a:ext uri="{FF2B5EF4-FFF2-40B4-BE49-F238E27FC236}">
                <a16:creationId xmlns:a16="http://schemas.microsoft.com/office/drawing/2014/main" id="{D64E8B35-FE03-446E-B077-F002BB1703F1}"/>
              </a:ext>
            </a:extLst>
          </p:cNvPr>
          <p:cNvPicPr>
            <a:picLocks noChangeAspect="1"/>
          </p:cNvPicPr>
          <p:nvPr/>
        </p:nvPicPr>
        <p:blipFill>
          <a:blip r:embed="rId5"/>
          <a:stretch>
            <a:fillRect/>
          </a:stretch>
        </p:blipFill>
        <p:spPr>
          <a:xfrm>
            <a:off x="8141208" y="2731000"/>
            <a:ext cx="3758184" cy="3377608"/>
          </a:xfrm>
          <a:prstGeom prst="rect">
            <a:avLst/>
          </a:prstGeom>
        </p:spPr>
      </p:pic>
    </p:spTree>
    <p:extLst>
      <p:ext uri="{BB962C8B-B14F-4D97-AF65-F5344CB8AC3E}">
        <p14:creationId xmlns:p14="http://schemas.microsoft.com/office/powerpoint/2010/main" val="859568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A0B0E9-9D4E-5FC6-2128-F1B7DDD4C340}"/>
              </a:ext>
            </a:extLst>
          </p:cNvPr>
          <p:cNvSpPr>
            <a:spLocks noGrp="1"/>
          </p:cNvSpPr>
          <p:nvPr>
            <p:ph type="title"/>
          </p:nvPr>
        </p:nvSpPr>
        <p:spPr>
          <a:xfrm>
            <a:off x="838200" y="365125"/>
            <a:ext cx="10515600" cy="1860400"/>
          </a:xfrm>
        </p:spPr>
        <p:txBody>
          <a:bodyPr vert="horz" lIns="91440" tIns="45720" rIns="91440" bIns="45720" rtlCol="0" anchor="ctr">
            <a:normAutofit/>
          </a:bodyPr>
          <a:lstStyle/>
          <a:p>
            <a:r>
              <a:rPr lang="en-US" sz="5200" kern="1200">
                <a:solidFill>
                  <a:schemeClr val="tx1"/>
                </a:solidFill>
                <a:latin typeface="+mj-lt"/>
                <a:ea typeface="+mj-ea"/>
                <a:cs typeface="+mj-cs"/>
              </a:rPr>
              <a:t>Sustainable Aviation Fuel Production</a:t>
            </a:r>
          </a:p>
        </p:txBody>
      </p:sp>
      <p:pic>
        <p:nvPicPr>
          <p:cNvPr id="6" name="Content Placeholder 5">
            <a:extLst>
              <a:ext uri="{FF2B5EF4-FFF2-40B4-BE49-F238E27FC236}">
                <a16:creationId xmlns:a16="http://schemas.microsoft.com/office/drawing/2014/main" id="{F6754DD2-0C5F-E67E-18DB-CC117EF827D0}"/>
              </a:ext>
            </a:extLst>
          </p:cNvPr>
          <p:cNvPicPr>
            <a:picLocks noGrp="1" noChangeAspect="1"/>
          </p:cNvPicPr>
          <p:nvPr>
            <p:ph idx="1"/>
          </p:nvPr>
        </p:nvPicPr>
        <p:blipFill>
          <a:blip r:embed="rId3"/>
          <a:stretch>
            <a:fillRect/>
          </a:stretch>
        </p:blipFill>
        <p:spPr>
          <a:xfrm>
            <a:off x="181234" y="2710033"/>
            <a:ext cx="5828261" cy="3249259"/>
          </a:xfrm>
          <a:prstGeom prst="rect">
            <a:avLst/>
          </a:prstGeom>
        </p:spPr>
      </p:pic>
      <p:pic>
        <p:nvPicPr>
          <p:cNvPr id="13" name="Picture 12">
            <a:extLst>
              <a:ext uri="{FF2B5EF4-FFF2-40B4-BE49-F238E27FC236}">
                <a16:creationId xmlns:a16="http://schemas.microsoft.com/office/drawing/2014/main" id="{B2217B70-1900-63CE-9983-A486A3745E69}"/>
              </a:ext>
            </a:extLst>
          </p:cNvPr>
          <p:cNvPicPr>
            <a:picLocks noChangeAspect="1"/>
          </p:cNvPicPr>
          <p:nvPr/>
        </p:nvPicPr>
        <p:blipFill>
          <a:blip r:embed="rId4"/>
          <a:stretch>
            <a:fillRect/>
          </a:stretch>
        </p:blipFill>
        <p:spPr>
          <a:xfrm>
            <a:off x="6182505" y="2804390"/>
            <a:ext cx="5828261" cy="3060545"/>
          </a:xfrm>
          <a:prstGeom prst="rect">
            <a:avLst/>
          </a:prstGeom>
        </p:spPr>
      </p:pic>
    </p:spTree>
    <p:extLst>
      <p:ext uri="{BB962C8B-B14F-4D97-AF65-F5344CB8AC3E}">
        <p14:creationId xmlns:p14="http://schemas.microsoft.com/office/powerpoint/2010/main" val="631786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0087D53-9295-4463-AAE4-D5C626046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DDF8E8-F847-3116-355D-2BD51A53FDB2}"/>
              </a:ext>
            </a:extLst>
          </p:cNvPr>
          <p:cNvSpPr>
            <a:spLocks noGrp="1"/>
          </p:cNvSpPr>
          <p:nvPr>
            <p:ph type="title"/>
          </p:nvPr>
        </p:nvSpPr>
        <p:spPr>
          <a:xfrm>
            <a:off x="638881" y="4501453"/>
            <a:ext cx="10909640" cy="1065836"/>
          </a:xfrm>
        </p:spPr>
        <p:txBody>
          <a:bodyPr vert="horz" lIns="91440" tIns="45720" rIns="91440" bIns="45720" rtlCol="0" anchor="ctr">
            <a:normAutofit/>
          </a:bodyPr>
          <a:lstStyle/>
          <a:p>
            <a:pPr algn="ctr"/>
            <a:r>
              <a:rPr lang="en-US" sz="6100"/>
              <a:t>Government Initiatives in SAF fuel</a:t>
            </a:r>
          </a:p>
        </p:txBody>
      </p:sp>
      <p:pic>
        <p:nvPicPr>
          <p:cNvPr id="11" name="Content Placeholder 10">
            <a:extLst>
              <a:ext uri="{FF2B5EF4-FFF2-40B4-BE49-F238E27FC236}">
                <a16:creationId xmlns:a16="http://schemas.microsoft.com/office/drawing/2014/main" id="{4BB8CB50-F286-B012-CBE5-92F4B156A251}"/>
              </a:ext>
            </a:extLst>
          </p:cNvPr>
          <p:cNvPicPr>
            <a:picLocks noGrp="1" noChangeAspect="1"/>
          </p:cNvPicPr>
          <p:nvPr>
            <p:ph idx="1"/>
          </p:nvPr>
        </p:nvPicPr>
        <p:blipFill>
          <a:blip r:embed="rId3"/>
          <a:stretch>
            <a:fillRect/>
          </a:stretch>
        </p:blipFill>
        <p:spPr>
          <a:xfrm>
            <a:off x="323088" y="1245354"/>
            <a:ext cx="4476288" cy="2529102"/>
          </a:xfrm>
          <a:prstGeom prst="rect">
            <a:avLst/>
          </a:prstGeom>
        </p:spPr>
      </p:pic>
      <p:pic>
        <p:nvPicPr>
          <p:cNvPr id="15" name="Picture 14">
            <a:extLst>
              <a:ext uri="{FF2B5EF4-FFF2-40B4-BE49-F238E27FC236}">
                <a16:creationId xmlns:a16="http://schemas.microsoft.com/office/drawing/2014/main" id="{88574557-A8A6-DD34-BFBF-89FCBBC115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8126" y="1060612"/>
            <a:ext cx="6910786" cy="2971637"/>
          </a:xfrm>
          <a:prstGeom prst="rect">
            <a:avLst/>
          </a:prstGeom>
        </p:spPr>
      </p:pic>
      <p:sp>
        <p:nvSpPr>
          <p:cNvPr id="2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4358"/>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316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D7F420-63DA-916C-D40B-C23F1A9F7AE0}"/>
              </a:ext>
            </a:extLst>
          </p:cNvPr>
          <p:cNvSpPr>
            <a:spLocks noGrp="1"/>
          </p:cNvSpPr>
          <p:nvPr>
            <p:ph type="title"/>
          </p:nvPr>
        </p:nvSpPr>
        <p:spPr>
          <a:xfrm>
            <a:off x="630936" y="639520"/>
            <a:ext cx="3429000" cy="1719072"/>
          </a:xfrm>
        </p:spPr>
        <p:txBody>
          <a:bodyPr anchor="b">
            <a:normAutofit/>
          </a:bodyPr>
          <a:lstStyle/>
          <a:p>
            <a:r>
              <a:rPr lang="en-US" sz="5400"/>
              <a:t>Conclusion</a:t>
            </a:r>
          </a:p>
        </p:txBody>
      </p:sp>
      <p:sp>
        <p:nvSpPr>
          <p:cNvPr id="1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9">
            <a:extLst>
              <a:ext uri="{FF2B5EF4-FFF2-40B4-BE49-F238E27FC236}">
                <a16:creationId xmlns:a16="http://schemas.microsoft.com/office/drawing/2014/main" id="{12575993-F8A4-A08D-0681-64AE46A858B3}"/>
              </a:ext>
            </a:extLst>
          </p:cNvPr>
          <p:cNvSpPr>
            <a:spLocks noGrp="1"/>
          </p:cNvSpPr>
          <p:nvPr>
            <p:ph idx="1"/>
          </p:nvPr>
        </p:nvSpPr>
        <p:spPr>
          <a:xfrm>
            <a:off x="630936" y="2807208"/>
            <a:ext cx="4023360" cy="3410712"/>
          </a:xfrm>
        </p:spPr>
        <p:txBody>
          <a:bodyPr anchor="t">
            <a:normAutofit lnSpcReduction="10000"/>
          </a:bodyPr>
          <a:lstStyle/>
          <a:p>
            <a:r>
              <a:rPr lang="en-US" sz="2200" dirty="0"/>
              <a:t>The progression from the Wright Brothers’s innovation to the use of Sustainable Aviation Fuel and Singapore’s world first sustainable aviation fuel levy proves that the future of flight requires blending the pioneering spirit of early aviation with the modern environmental science. </a:t>
            </a:r>
          </a:p>
        </p:txBody>
      </p:sp>
      <p:pic>
        <p:nvPicPr>
          <p:cNvPr id="6" name="Content Placeholder 5">
            <a:extLst>
              <a:ext uri="{FF2B5EF4-FFF2-40B4-BE49-F238E27FC236}">
                <a16:creationId xmlns:a16="http://schemas.microsoft.com/office/drawing/2014/main" id="{50E8BDF2-225C-32BA-BAD1-D29E3CB26846}"/>
              </a:ext>
            </a:extLst>
          </p:cNvPr>
          <p:cNvPicPr>
            <a:picLocks noChangeAspect="1"/>
          </p:cNvPicPr>
          <p:nvPr/>
        </p:nvPicPr>
        <p:blipFill>
          <a:blip r:embed="rId3"/>
          <a:stretch>
            <a:fillRect/>
          </a:stretch>
        </p:blipFill>
        <p:spPr>
          <a:xfrm>
            <a:off x="4654296" y="1616773"/>
            <a:ext cx="6903720" cy="3624453"/>
          </a:xfrm>
          <a:prstGeom prst="rect">
            <a:avLst/>
          </a:prstGeom>
        </p:spPr>
      </p:pic>
    </p:spTree>
    <p:extLst>
      <p:ext uri="{BB962C8B-B14F-4D97-AF65-F5344CB8AC3E}">
        <p14:creationId xmlns:p14="http://schemas.microsoft.com/office/powerpoint/2010/main" val="20671534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11</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Decarbonization of airlines from the Wright Brothers to Sustainable Aviation Fuel</vt:lpstr>
      <vt:lpstr>Introduction</vt:lpstr>
      <vt:lpstr>Fundamentals of Aviation</vt:lpstr>
      <vt:lpstr>Wright Brothers’ First Flight</vt:lpstr>
      <vt:lpstr>Early Aviation Gas</vt:lpstr>
      <vt:lpstr>Shift to Gas Powered Turbine Engines</vt:lpstr>
      <vt:lpstr>Ban on Leaded Fuel and Testing of Alternative Fueld</vt:lpstr>
      <vt:lpstr>General Electric’s Sustainable Aviation Fuel Testing</vt:lpstr>
      <vt:lpstr>United Airlines commitment to Sustainable Aviation Fuel</vt:lpstr>
      <vt:lpstr>Sustainable Aviation Fuel Production</vt:lpstr>
      <vt:lpstr>Government Initiatives in SAF fuel</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Matthew Kurniawan</dc:creator>
  <cp:lastModifiedBy>Matthew Kurniawan</cp:lastModifiedBy>
  <cp:revision>5</cp:revision>
  <dcterms:created xsi:type="dcterms:W3CDTF">2026-03-11T03:44:34Z</dcterms:created>
  <dcterms:modified xsi:type="dcterms:W3CDTF">2026-03-11T04:53:21Z</dcterms:modified>
</cp:coreProperties>
</file>